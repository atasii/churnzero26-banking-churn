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56032"/>
            <a:ext cx="8229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ChurnZero  |  Competition Round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94360"/>
            <a:ext cx="1645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Team: AtasiKolexi05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1051560"/>
            <a:ext cx="54864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Banking Customer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20040" y="1627632"/>
            <a:ext cx="59436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Churn Prediction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20040" y="2468880"/>
            <a:ext cx="50292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Predicting customer churn using machine learning to drive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proactive retention and minimize business cost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3337560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Model: XGBoost   |   Primary Metric: PR-AUC   |   May 2025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0" y="914400"/>
            <a:ext cx="301752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0" y="914400"/>
            <a:ext cx="73152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08192" y="1005840"/>
            <a:ext cx="2743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0.9992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108192" y="1572768"/>
            <a:ext cx="2743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PR-AUC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2286000"/>
            <a:ext cx="301752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0" y="2286000"/>
            <a:ext cx="73152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2377440"/>
            <a:ext cx="2743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100%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108192" y="2944368"/>
            <a:ext cx="2743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0" y="3657600"/>
            <a:ext cx="3017520" cy="114300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0" y="3657600"/>
            <a:ext cx="73152" cy="11430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749040"/>
            <a:ext cx="2743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₹17,500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108192" y="4315968"/>
            <a:ext cx="2743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Business Cost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4892040"/>
            <a:ext cx="8503920" cy="2514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XGBoost Model  ·  Banking Churn Intelligence  ·  AtasiKolexi05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545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1628"/>
            <a:ext cx="54864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64820" y="489204"/>
            <a:ext cx="54864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challenge are we solving?</a:t>
            </a:r>
            <a:endParaRPr lang="en-US" sz="1200" dirty="0"/>
          </a:p>
        </p:txBody>
      </p:sp>
      <p:grpSp>
        <p:nvGrpSpPr>
          <p:cNvPr id="34" name="Group 33"/>
          <p:cNvGrpSpPr/>
          <p:nvPr/>
        </p:nvGrpSpPr>
        <p:grpSpPr>
          <a:xfrm>
            <a:off x="228600" y="1135380"/>
            <a:ext cx="8641080" cy="3566160"/>
            <a:chOff x="360" y="1584"/>
            <a:chExt cx="13608" cy="5616"/>
          </a:xfrm>
        </p:grpSpPr>
        <p:sp>
          <p:nvSpPr>
            <p:cNvPr id="6" name="Shape 4"/>
            <p:cNvSpPr/>
            <p:nvPr/>
          </p:nvSpPr>
          <p:spPr>
            <a:xfrm>
              <a:off x="360" y="1584"/>
              <a:ext cx="4392" cy="56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7" name="Shape 5"/>
            <p:cNvSpPr/>
            <p:nvPr/>
          </p:nvSpPr>
          <p:spPr>
            <a:xfrm>
              <a:off x="360" y="1584"/>
              <a:ext cx="4392" cy="86"/>
            </a:xfrm>
            <a:prstGeom prst="rect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6" y="1757"/>
              <a:ext cx="3960" cy="648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F1B2D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Business Challenge</a:t>
              </a:r>
              <a:endPara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9" name="Shape 7"/>
            <p:cNvSpPr/>
            <p:nvPr/>
          </p:nvSpPr>
          <p:spPr>
            <a:xfrm>
              <a:off x="576" y="2705"/>
              <a:ext cx="317" cy="317"/>
            </a:xfrm>
            <a:prstGeom prst="ellipse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94" y="2606"/>
              <a:ext cx="3600" cy="1152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334155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Banks lose 20–30% revenue annually from customer churn</a:t>
              </a:r>
              <a:endPara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576" y="4109"/>
              <a:ext cx="317" cy="317"/>
            </a:xfrm>
            <a:prstGeom prst="ellipse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94" y="3974"/>
              <a:ext cx="3600" cy="1152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334155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Acquiring new customers costs 5× more than retaining existing ones</a:t>
              </a:r>
              <a:endPara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576" y="5417"/>
              <a:ext cx="317" cy="317"/>
            </a:xfrm>
            <a:prstGeom prst="ellipse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994" y="5390"/>
              <a:ext cx="3600" cy="1152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334155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Early detection enables targeted, cost-effective intervention</a:t>
              </a:r>
              <a:endPara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4968" y="1584"/>
              <a:ext cx="4392" cy="56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16" name="Shape 14"/>
            <p:cNvSpPr/>
            <p:nvPr/>
          </p:nvSpPr>
          <p:spPr>
            <a:xfrm>
              <a:off x="4968" y="1584"/>
              <a:ext cx="4392" cy="86"/>
            </a:xfrm>
            <a:prstGeom prst="rect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84" y="1757"/>
              <a:ext cx="3960" cy="648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F1B2D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Why Churn Prediction Matters</a:t>
              </a:r>
              <a:endPara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184" y="2621"/>
              <a:ext cx="317" cy="317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602" y="2354"/>
              <a:ext cx="3600" cy="1152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334155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Each missed churner (FN) costs the bank ₹40,000</a:t>
              </a:r>
              <a:endPara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184" y="3917"/>
              <a:ext cx="317" cy="317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602" y="3746"/>
              <a:ext cx="3600" cy="1152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334155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Wrongly flagging loyal customers (FP) costs ₹500 per case</a:t>
              </a:r>
              <a:endPara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184" y="5309"/>
              <a:ext cx="317" cy="317"/>
            </a:xfrm>
            <a:prstGeom prst="ellipse">
              <a:avLst/>
            </a:prstGeom>
            <a:solidFill>
              <a:srgbClr val="F59E0B"/>
            </a:solidFill>
            <a:ln w="12700">
              <a:solidFill>
                <a:srgbClr val="F59E0B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602" y="5234"/>
              <a:ext cx="3600" cy="1152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334155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A data-driven model prioritizes outreach &amp; minimizes spend</a:t>
              </a:r>
              <a:endPara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9576" y="1584"/>
              <a:ext cx="4392" cy="56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25" name="Shape 23"/>
            <p:cNvSpPr/>
            <p:nvPr/>
          </p:nvSpPr>
          <p:spPr>
            <a:xfrm>
              <a:off x="9576" y="1584"/>
              <a:ext cx="4392" cy="8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9792" y="1757"/>
              <a:ext cx="3960" cy="648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F1B2D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Expected Business Impact</a:t>
              </a:r>
              <a:endPara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9792" y="2621"/>
              <a:ext cx="317" cy="317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10210" y="2546"/>
              <a:ext cx="3600" cy="1152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334155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Proactive identification of high-risk customers before they exit</a:t>
              </a:r>
              <a:endPara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9792" y="3989"/>
              <a:ext cx="317" cy="317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10210" y="3686"/>
              <a:ext cx="3600" cy="1152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334155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Significant reduction in total churn-related financial loss</a:t>
              </a:r>
              <a:endPara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9792" y="5213"/>
              <a:ext cx="317" cy="317"/>
            </a:xfrm>
            <a:prstGeom prst="ellipse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10210" y="4826"/>
              <a:ext cx="3600" cy="1152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dirty="0">
                  <a:solidFill>
                    <a:srgbClr val="334155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Actionable insights into top churn drivers for strategy</a:t>
              </a:r>
              <a:endPara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</p:grpSp>
      <p:sp>
        <p:nvSpPr>
          <p:cNvPr id="33" name="Text 31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62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9248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9580" y="71628"/>
            <a:ext cx="6400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Objective &amp; Approach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87680" y="48158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Solution strategy at a glance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45720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05840"/>
            <a:ext cx="8321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🎯  Goal: Predict binary customer churn (0/1) on 2,026 test customers — maximising PR-AUC and minimising total business cost</a:t>
            </a:r>
            <a:endParaRPr lang="en-US" sz="1200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4320" y="1691640"/>
            <a:ext cx="1261872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200" b="1" dirty="0">
              <a:solidFill>
                <a:srgbClr val="0D9488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Audit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&amp; Leakage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Removal</a:t>
            </a:r>
            <a:endParaRPr lang="en-US" sz="12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536192" y="2121408"/>
            <a:ext cx="15544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1691640"/>
            <a:ext cx="1261872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69164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200" b="1" dirty="0">
              <a:solidFill>
                <a:srgbClr val="0D9488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69164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EDA &amp;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Preprocessing</a:t>
            </a:r>
            <a:endParaRPr lang="en-US" sz="12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953512" y="2121408"/>
            <a:ext cx="15544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1691640"/>
            <a:ext cx="1261872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0896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200" b="1" dirty="0">
              <a:solidFill>
                <a:srgbClr val="0D9488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10896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SMOTE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Imbalance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Handling</a:t>
            </a:r>
            <a:endParaRPr lang="en-US" sz="12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370832" y="2121408"/>
            <a:ext cx="15544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6280" y="1691640"/>
            <a:ext cx="1261872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B2D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</a:t>
            </a:r>
            <a:endParaRPr lang="en-US" sz="1200" b="1" dirty="0">
              <a:solidFill>
                <a:srgbClr val="0F1B2D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2628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Training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(XGBoost)</a:t>
            </a:r>
            <a:endParaRPr lang="en-US" sz="12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88152" y="2121408"/>
            <a:ext cx="15544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691640"/>
            <a:ext cx="1261872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</a:t>
            </a:r>
            <a:endParaRPr lang="en-US" sz="1200" b="1" dirty="0">
              <a:solidFill>
                <a:srgbClr val="0D9488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94360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Threshold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Optimization</a:t>
            </a:r>
            <a:endParaRPr lang="en-US" sz="12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205472" y="2121408"/>
            <a:ext cx="155448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691640"/>
            <a:ext cx="1261872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60920" y="1737360"/>
            <a:ext cx="1261872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6</a:t>
            </a:r>
            <a:endParaRPr lang="en-US" sz="1200" b="1" dirty="0">
              <a:solidFill>
                <a:srgbClr val="0D9488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60920" y="1984248"/>
            <a:ext cx="1261872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Predictions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&amp; Insights</a:t>
            </a:r>
            <a:endParaRPr lang="en-US" sz="12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2971800"/>
            <a:ext cx="38404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PRINCIPLES</a:t>
            </a:r>
            <a:endParaRPr lang="en-US" sz="14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11480" y="3291840"/>
            <a:ext cx="38404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 No Data Leakage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11480" y="3611880"/>
            <a:ext cx="38404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 Cost-Sensitive Threshold Tuning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11480" y="3931920"/>
            <a:ext cx="38404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 Reproducible Pipeline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11480" y="4251960"/>
            <a:ext cx="38404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 Business-First Framing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846320" y="2880360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846320" y="288036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83480" y="2971800"/>
            <a:ext cx="37490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EVALUATION FORMULA</a:t>
            </a:r>
            <a:endParaRPr lang="en-US" sz="14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983480" y="3291840"/>
            <a:ext cx="37490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PR-AUC (primary)  ·  F1-Score (secondary)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983480" y="3657600"/>
            <a:ext cx="36576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29200" y="3657600"/>
            <a:ext cx="35661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Business Cost = FP × ₹500 + </a:t>
            </a: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FN × ₹40,000</a:t>
            </a:r>
            <a:endParaRPr lang="en-US" sz="14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983480" y="4251960"/>
            <a:ext cx="374904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Threshold tuned to minimise total business cost</a:t>
            </a:r>
            <a:endParaRPr lang="en-US" sz="1200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3528"/>
            <a:ext cx="6400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49580" y="45872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ChurnZero — 97 features across 8 behavioral categories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196596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05840"/>
            <a:ext cx="1965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8,101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0F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Training Rows</a:t>
            </a:r>
            <a:endParaRPr lang="en-US" sz="1200" dirty="0">
              <a:solidFill>
                <a:srgbClr val="D0F0E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450592" y="960120"/>
            <a:ext cx="1965960" cy="86868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50592" y="1005840"/>
            <a:ext cx="1965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2,026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50592" y="1463040"/>
            <a:ext cx="1965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0F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Rows</a:t>
            </a:r>
            <a:endParaRPr lang="en-US" sz="1200" dirty="0">
              <a:solidFill>
                <a:srgbClr val="D0F0E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626864" y="960120"/>
            <a:ext cx="1965960" cy="868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26864" y="1005840"/>
            <a:ext cx="1965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626864" y="1463040"/>
            <a:ext cx="1965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0F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 Features</a:t>
            </a:r>
            <a:endParaRPr lang="en-US" sz="1200" dirty="0">
              <a:solidFill>
                <a:srgbClr val="D0F0E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803136" y="960120"/>
            <a:ext cx="1965960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03136" y="1005840"/>
            <a:ext cx="19659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~20%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03136" y="1463040"/>
            <a:ext cx="19659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0F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Churn Rate</a:t>
            </a:r>
            <a:endParaRPr lang="en-US" sz="1200" dirty="0">
              <a:solidFill>
                <a:srgbClr val="D0F0EC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74320" y="1965960"/>
            <a:ext cx="8595360" cy="329184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965960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Category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840480" y="1965960"/>
            <a:ext cx="82296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Features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63440" y="1965960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Example Features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74320" y="2295144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295144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 Profile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005072" y="2368296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05072" y="2368296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10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663440" y="2295144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age, gender, annual_income, city_tier</a:t>
            </a:r>
            <a:endParaRPr lang="en-US" sz="1200" i="1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74320" y="2624328"/>
            <a:ext cx="859536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24328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Relationship &amp; Tenure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005072" y="2697480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05072" y="2697480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663440" y="2624328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tenure_months, customer_lifetime_value</a:t>
            </a:r>
            <a:endParaRPr lang="en-US" sz="1200" i="1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274320" y="2953512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2953512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Account &amp; Transaction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005072" y="3026664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05072" y="3026664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663440" y="2953512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avg_monthly_balance, balance_decline_%</a:t>
            </a:r>
            <a:endParaRPr lang="en-US" sz="1200" i="1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274320" y="3282696"/>
            <a:ext cx="859536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82696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Product Holding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005072" y="3355848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05072" y="3355848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663440" y="3282696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credit_card_flag, home_loan_flag</a:t>
            </a:r>
            <a:endParaRPr lang="en-US" sz="1200" i="1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274320" y="3611880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Credit Card &amp; Loan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4005072" y="3685032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05072" y="3685032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4663440" y="3611880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credit_utilization_ratio, loan_default_risk</a:t>
            </a:r>
            <a:endParaRPr lang="en-US" sz="1200" i="1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274320" y="3941064"/>
            <a:ext cx="859536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941064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Digital Banking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005072" y="4014216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05072" y="4014216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663440" y="3941064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mobile_app_logins, digital_txn_ratio</a:t>
            </a:r>
            <a:endParaRPr lang="en-US" sz="1200" i="1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274320" y="4270248"/>
            <a:ext cx="859536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270248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Service &amp; Complaints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4005072" y="4343400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05072" y="4343400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4663440" y="4270248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total_complaints, satisfaction_score</a:t>
            </a:r>
            <a:endParaRPr lang="en-US" sz="1200" i="1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274320" y="4599432"/>
            <a:ext cx="859536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599432"/>
            <a:ext cx="347472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Marketing &amp; Retention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4005072" y="4672584"/>
            <a:ext cx="47548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05072" y="4672584"/>
            <a:ext cx="47548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4663440" y="4599432"/>
            <a:ext cx="411480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campaign_received, retention_offer_accepted</a:t>
            </a:r>
            <a:endParaRPr lang="en-US" sz="1200" i="1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620" y="79248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1960" y="48768"/>
            <a:ext cx="7315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Exploratory Data Analysis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64820" y="458724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patterns &amp; customer behavior insights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64008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58240"/>
            <a:ext cx="37947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 Imbalance</a:t>
            </a:r>
            <a:endParaRPr lang="en-US" sz="16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1405128"/>
            <a:ext cx="379476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~20% churn rate — heavily imbalanced dataset. PR-AUC used as primary metric (robust to imbalance vs accuracy).</a:t>
            </a:r>
            <a:endParaRPr lang="en-US" sz="14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05840"/>
            <a:ext cx="64008" cy="1737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158240"/>
            <a:ext cx="37947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Transaction Activity (Imp: 0.131)</a:t>
            </a:r>
            <a:endParaRPr lang="en-US" sz="16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37760" y="1519428"/>
            <a:ext cx="379476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total_digital_logins (0.177) and monthly_transaction_count (0.131) are the top predictors. Low activity strongly signals churn intent.</a:t>
            </a:r>
            <a:endParaRPr lang="en-US" sz="14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26080"/>
            <a:ext cx="64008" cy="173736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078480"/>
            <a:ext cx="37947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Tenure &amp; Products</a:t>
            </a:r>
            <a:endParaRPr lang="en-US" sz="16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3325368"/>
            <a:ext cx="379476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Customers with shorter tenure (&lt;12 months) and single-product holding show significantly higher churn rates.</a:t>
            </a:r>
            <a:endParaRPr lang="en-US" sz="14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75488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926080"/>
            <a:ext cx="64008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3078480"/>
            <a:ext cx="37947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RM Interaction &amp; Transaction Amount</a:t>
            </a:r>
            <a:endParaRPr lang="en-US" sz="16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937760" y="3325368"/>
            <a:ext cx="379476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relationship_manager_interaction_count (0.054) and total_trans_amt (0.144) round out the top 5. Low engagement and transaction volume flag low loyalty.</a:t>
            </a:r>
            <a:endParaRPr lang="en-US" sz="14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9248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9580" y="56388"/>
            <a:ext cx="6400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Data Preprocessing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80060" y="45872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Leakage-free, reproducible pipeline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4114800" cy="384048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046988"/>
            <a:ext cx="38404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b="1" dirty="0">
              <a:solidFill>
                <a:srgbClr val="0D9488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" y="1069848"/>
            <a:ext cx="3429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Leakage Audit &amp; Column Removal</a:t>
            </a:r>
            <a:endParaRPr 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Dropped columns with correlation &gt;0.7 to churn target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1827276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Removed post-event keyword columns: satisfaction, nps, resolution, escalation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11480" y="2249424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Explicitly excluded: unresolved_complaint_count, campaign_response_count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05840"/>
            <a:ext cx="4114800" cy="384048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1054608"/>
            <a:ext cx="38404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b="1" dirty="0">
              <a:solidFill>
                <a:srgbClr val="0D9488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285232" y="1069848"/>
            <a:ext cx="3429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Missing Value Imputation</a:t>
            </a:r>
            <a:endParaRPr 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1481328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Numeric columns → filled with training-set median (no test leakage)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892040" y="1865376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Categorical columns → filled with training-set mode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892040" y="2249424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Imputation computed on train only, then applied to both train &amp; test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7432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926080"/>
            <a:ext cx="4114800" cy="384048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2959608"/>
            <a:ext cx="38404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b="1" dirty="0">
              <a:solidFill>
                <a:srgbClr val="0D9488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04672" y="2990088"/>
            <a:ext cx="3429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Encoding &amp; Scaling</a:t>
            </a:r>
            <a:endParaRPr 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11480" y="3401568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One-hot encoding for all categorical features (drop_first=True)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11480" y="3785616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Column alignment: test set synced to training feature set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11480" y="4169664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StandardScaler fit on train only, transformed on both sets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75488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2926080"/>
            <a:ext cx="4114800" cy="384048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2974848"/>
            <a:ext cx="384048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</a:t>
            </a:r>
            <a:endParaRPr lang="en-US" b="1" dirty="0">
              <a:solidFill>
                <a:srgbClr val="0D9488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285232" y="2990088"/>
            <a:ext cx="3429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Train-Validation Split</a:t>
            </a:r>
            <a:endParaRPr 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892040" y="3401568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80/20 stratified split (stratify=y) to preserve churn ratio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892040" y="3785616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seed 42 for full reproducibility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892040" y="4169664"/>
            <a:ext cx="38404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·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Final model retrained on full training set after threshold selection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"/>
            <a:ext cx="6400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 Development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64820" y="451104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Algorithm selection, SMOTE, and training strategy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3931920" cy="5486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097280"/>
            <a:ext cx="1828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BASELINE</a:t>
            </a:r>
            <a:endParaRPr lang="en-US" sz="1000" b="1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11480" y="1353312"/>
            <a:ext cx="36576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41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Logistic Regression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365760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→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class_weight='balanced' — no SMOTE applied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057400"/>
            <a:ext cx="365760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→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Quick, interpretable benchmark model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11480" y="2377440"/>
            <a:ext cx="365760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→ </a:t>
            </a: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Establishes minimum PR-AUC floor for comparison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0" y="1005840"/>
            <a:ext cx="429768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9160" y="1097280"/>
            <a:ext cx="1828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FBF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FINAL MODEL</a:t>
            </a:r>
            <a:endParaRPr lang="en-US" sz="1000" b="1" dirty="0">
              <a:solidFill>
                <a:srgbClr val="CCFBF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09160" y="1353312"/>
            <a:ext cx="402336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XGBoost Classifier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09160" y="1737360"/>
            <a:ext cx="397764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FBF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→ </a:t>
            </a: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n_estimators=200, max_depth=6, learning_rate=0.05</a:t>
            </a:r>
            <a:endParaRPr lang="en-US" sz="12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057400"/>
            <a:ext cx="397764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FBF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→ </a:t>
            </a: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scale_pos_weight from resampled class ratio</a:t>
            </a:r>
            <a:endParaRPr lang="en-US" sz="12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09160" y="2377440"/>
            <a:ext cx="397764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FBF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 xml:space="preserve">→ </a:t>
            </a: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Handles non-linearity and feature interactions natively</a:t>
            </a:r>
            <a:endParaRPr lang="en-US" sz="12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74320" y="2971800"/>
            <a:ext cx="8595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71800"/>
            <a:ext cx="8595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SMOTE — Handling Class Imbalance (~20% churn rate)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3456432"/>
            <a:ext cx="4114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Synthetic Minority Oversampling creates new churn examples to balance training data — prevents model bias toward majority class.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754880" y="3429000"/>
            <a:ext cx="3931920" cy="5943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429000"/>
            <a:ext cx="37490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Applied ONLY to training data — validation and test sets remain untouched for honest, realistic evaluation</a:t>
            </a:r>
            <a:endParaRPr lang="en-US" sz="12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57200" y="4290060"/>
            <a:ext cx="8229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XGBoost:  robust to feature scale  ·  built-in L1/L2 regularization  ·  superior performance on tabular imbalanced data</a:t>
            </a:r>
            <a:endParaRPr lang="en-US" sz="1200" b="1" dirty="0">
              <a:solidFill>
                <a:srgbClr val="0D948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668"/>
            <a:ext cx="64008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Evaluation Metrics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3586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PR-AUC matters for imbalanced churn data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05840"/>
            <a:ext cx="41148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15568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PR-AUC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108960" y="1170432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8960" y="1170432"/>
            <a:ext cx="1097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Primary Metric</a:t>
            </a:r>
            <a:endParaRPr lang="en-US" sz="10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1600200"/>
            <a:ext cx="3840480" cy="10241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Precision-Recall AUC. Robust to class imbalance. Rewards models that find true churners without excessive false alarms.</a:t>
            </a:r>
            <a:endParaRPr lang="en-US" sz="14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05840"/>
            <a:ext cx="4114800" cy="54864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115568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B2D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F1-Score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589520" y="1170432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1170432"/>
            <a:ext cx="1097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Secondary Metric</a:t>
            </a:r>
            <a:endParaRPr lang="en-US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1600200"/>
            <a:ext cx="3840480" cy="10241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Harmonic mean of Precision &amp; Recall on the positive class. Balances both aspects of churn detection quality.</a:t>
            </a:r>
            <a:endParaRPr lang="en-US" sz="14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7432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26080"/>
            <a:ext cx="411480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035808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444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Recall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108960" y="3090672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3090672"/>
            <a:ext cx="1097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Business Priority</a:t>
            </a:r>
            <a:endParaRPr lang="en-US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11480" y="3520440"/>
            <a:ext cx="3840480" cy="10241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% of actual churners correctly flagged. Critical: a missed churner (FN) costs ₹40,000 — recall is maximised within cost budget.</a:t>
            </a:r>
            <a:endParaRPr lang="en-US" sz="14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754880" y="29260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926080"/>
            <a:ext cx="41148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3035808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Precision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7589520" y="3090672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89520" y="3090672"/>
            <a:ext cx="10972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Cost Control</a:t>
            </a:r>
            <a:endParaRPr lang="en-US" sz="10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892040" y="3520440"/>
            <a:ext cx="3840480" cy="10241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% of flagged customers who actually churn. Controls over-spending retention budget on loyal customers.</a:t>
            </a:r>
            <a:endParaRPr lang="en-US" sz="14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4617720"/>
            <a:ext cx="832104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Business Cost Formula:   Total Cost  =  (FP × ₹500)  +  (FN × ₹40,000)   →   Threshold optimised to MINIMISE this value</a:t>
            </a:r>
            <a:endParaRPr lang="en-US" sz="1200" b="1" dirty="0">
              <a:solidFill>
                <a:srgbClr val="0D948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3820"/>
            <a:ext cx="7315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Results &amp; Performance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579120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performance on validation set — actual notebook output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929640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97280"/>
            <a:ext cx="2011680" cy="128016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170432"/>
            <a:ext cx="201168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0.9992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1719072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PR-AUC</a:t>
            </a:r>
            <a:endParaRPr 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74320" y="1956816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near-perfect</a:t>
            </a:r>
            <a:endParaRPr lang="en-US" sz="1200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450592" y="1097280"/>
            <a:ext cx="2011680" cy="1280160"/>
          </a:xfrm>
          <a:prstGeom prst="rect">
            <a:avLst/>
          </a:prstGeom>
          <a:solidFill>
            <a:srgbClr val="1A2F45"/>
          </a:solidFill>
          <a:ln w="12700">
            <a:solidFill>
              <a:srgbClr val="6366F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50592" y="1170432"/>
            <a:ext cx="201168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366F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0.9372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50592" y="1719072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F1-Score</a:t>
            </a:r>
            <a:endParaRPr 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450592" y="1956816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 optimal threshold</a:t>
            </a:r>
            <a:endParaRPr lang="en-US" sz="1200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26864" y="1097280"/>
            <a:ext cx="2011680" cy="1280160"/>
          </a:xfrm>
          <a:prstGeom prst="rect">
            <a:avLst/>
          </a:prstGeom>
          <a:solidFill>
            <a:srgbClr val="1A2F45"/>
          </a:solidFill>
          <a:ln w="12700">
            <a:solidFill>
              <a:srgbClr val="22C55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26864" y="1170432"/>
            <a:ext cx="201168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C55E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626864" y="1719072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Recall</a:t>
            </a:r>
            <a:endParaRPr 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626864" y="1956816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churners detected</a:t>
            </a:r>
            <a:endParaRPr lang="en-US" sz="1200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03136" y="1097280"/>
            <a:ext cx="2011680" cy="1280160"/>
          </a:xfrm>
          <a:prstGeom prst="rect">
            <a:avLst/>
          </a:prstGeom>
          <a:solidFill>
            <a:srgbClr val="1A2F45"/>
          </a:solidFill>
          <a:ln w="127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03136" y="1170432"/>
            <a:ext cx="201168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88.18%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03136" y="1719072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Precision</a:t>
            </a:r>
            <a:endParaRPr 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03136" y="1956816"/>
            <a:ext cx="201168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low false alarm rate</a:t>
            </a:r>
            <a:endParaRPr lang="en-US" sz="1200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74320" y="2487168"/>
            <a:ext cx="4572000" cy="237744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2980" y="2458212"/>
            <a:ext cx="4297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Confusion Matrix  (Optimal Threshold = 0.02)</a:t>
            </a:r>
            <a:endParaRPr lang="en-US" sz="1200" dirty="0"/>
          </a:p>
        </p:txBody>
      </p:sp>
      <p:grpSp>
        <p:nvGrpSpPr>
          <p:cNvPr id="41" name="Group 40"/>
          <p:cNvGrpSpPr/>
          <p:nvPr/>
        </p:nvGrpSpPr>
        <p:grpSpPr>
          <a:xfrm>
            <a:off x="670560" y="2793365"/>
            <a:ext cx="3749040" cy="1938655"/>
            <a:chOff x="720" y="4291"/>
            <a:chExt cx="5904" cy="3053"/>
          </a:xfrm>
        </p:grpSpPr>
        <p:sp>
          <p:nvSpPr>
            <p:cNvPr id="23" name="Shape 21"/>
            <p:cNvSpPr/>
            <p:nvPr/>
          </p:nvSpPr>
          <p:spPr>
            <a:xfrm>
              <a:off x="720" y="4608"/>
              <a:ext cx="2808" cy="1224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20" y="4608"/>
              <a:ext cx="2808" cy="1224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TN ✓</a:t>
              </a:r>
              <a:endParaRPr lang="en-US" sz="13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816" y="4608"/>
              <a:ext cx="2808" cy="1224"/>
            </a:xfrm>
            <a:prstGeom prst="rect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816" y="4608"/>
              <a:ext cx="2808" cy="1224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FP</a:t>
              </a:r>
              <a:endParaRPr lang="en-US" sz="1300" dirty="0"/>
            </a:p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₹500/case</a:t>
              </a:r>
              <a:endParaRPr lang="en-US" sz="13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0" y="6120"/>
              <a:ext cx="2808" cy="1224"/>
            </a:xfrm>
            <a:prstGeom prst="rect">
              <a:avLst/>
            </a:prstGeom>
            <a:solidFill>
              <a:srgbClr val="EF4444"/>
            </a:solidFill>
            <a:ln w="12700">
              <a:solidFill>
                <a:srgbClr val="EF4444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20" y="6120"/>
              <a:ext cx="2808" cy="1224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FN</a:t>
              </a:r>
              <a:endParaRPr lang="en-US" sz="1300" dirty="0"/>
            </a:p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₹40,000/case</a:t>
              </a:r>
              <a:endParaRPr lang="en-US" sz="13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16" y="6120"/>
              <a:ext cx="2808" cy="1224"/>
            </a:xfrm>
            <a:prstGeom prst="rect">
              <a:avLst/>
            </a:prstGeom>
            <a:solidFill>
              <a:srgbClr val="22C55E"/>
            </a:solidFill>
            <a:ln w="12700">
              <a:solidFill>
                <a:srgbClr val="22C55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816" y="6120"/>
              <a:ext cx="2808" cy="1224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TP ✓</a:t>
              </a:r>
              <a:endParaRPr lang="en-US" sz="13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0" y="4303"/>
              <a:ext cx="2808" cy="259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94A3B8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Pred: No Churn</a:t>
              </a:r>
              <a:endPara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3816" y="4291"/>
              <a:ext cx="2808" cy="259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94A3B8"/>
                  </a:solidFill>
                  <a:latin typeface="Calibri" panose="020F0502020204030204" pitchFamily="34" charset="0"/>
                  <a:ea typeface="Calibri" panose="020F0502020204030204" pitchFamily="34" charset="-122"/>
                  <a:cs typeface="Calibri" panose="020F0502020204030204" pitchFamily="34" charset="-120"/>
                </a:rPr>
                <a:t>Pred: Churn</a:t>
              </a:r>
              <a:endPara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endParaRPr>
            </a:p>
          </p:txBody>
        </p:sp>
      </p:grpSp>
      <p:sp>
        <p:nvSpPr>
          <p:cNvPr id="33" name="Shape 31"/>
          <p:cNvSpPr/>
          <p:nvPr/>
        </p:nvSpPr>
        <p:spPr>
          <a:xfrm>
            <a:off x="5029200" y="2487168"/>
            <a:ext cx="3840480" cy="2377440"/>
          </a:xfrm>
          <a:prstGeom prst="rect">
            <a:avLst/>
          </a:prstGeom>
          <a:solidFill>
            <a:srgbClr val="1A2F45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66360" y="2578608"/>
            <a:ext cx="35661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💰  Business Cost at Optimal Threshold</a:t>
            </a:r>
            <a:endParaRPr lang="en-US" sz="1400" b="1" dirty="0">
              <a:solidFill>
                <a:srgbClr val="F59E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166360" y="2926080"/>
            <a:ext cx="3566160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₹17,500</a:t>
            </a:r>
            <a:endParaRPr lang="en-US" sz="4800" dirty="0"/>
          </a:p>
        </p:txBody>
      </p:sp>
      <p:sp>
        <p:nvSpPr>
          <p:cNvPr id="36" name="Text 34"/>
          <p:cNvSpPr/>
          <p:nvPr/>
        </p:nvSpPr>
        <p:spPr>
          <a:xfrm>
            <a:off x="5166360" y="3639312"/>
            <a:ext cx="35661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FN = 0 (₹0)  +  FP = 35 (₹17,500)  =  Total ₹17,500</a:t>
            </a:r>
            <a:endParaRPr lang="en-US" sz="1200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166360" y="4023360"/>
            <a:ext cx="3566160" cy="594360"/>
          </a:xfrm>
          <a:prstGeom prst="rect">
            <a:avLst/>
          </a:prstGeom>
          <a:solidFill>
            <a:srgbClr val="0A152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12080" y="4023360"/>
            <a:ext cx="347472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Threshold 0.02 → 100% Recall — catches every churner</a:t>
            </a:r>
            <a:endParaRPr lang="en-US" sz="1200" b="1" dirty="0">
              <a:solidFill>
                <a:srgbClr val="14B8A6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⚠️  Near-perfect PR-AUC (0.9992) and 100% Recall suggest the dataset is synthetic or strongly separable. Confirmed by 5-fold CV: 0.9994 ± 0.0002 — score is stable, not a lucky split.</a:t>
            </a:r>
            <a:endParaRPr lang="en-US" sz="1000" i="1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Business Insights &amp; Recommendations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80060" y="443484"/>
            <a:ext cx="7315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 churn drivers from XGBoost feature importances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47472" y="1124712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" y="112471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#1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68680" y="1207008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207008"/>
            <a:ext cx="5943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0.177</a:t>
            </a:r>
            <a:endParaRPr lang="en-US" sz="1200" b="1" dirty="0">
              <a:solidFill>
                <a:srgbClr val="0D948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554480" y="1069848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 Digital Logins</a:t>
            </a:r>
            <a:endParaRPr lang="en-US" sz="14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54480" y="1353312"/>
            <a:ext cx="71323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Low digital banking activity is the strongest churn signal; re-engage via personalised app campaigns and usage nudges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297680" y="1097280"/>
            <a:ext cx="4572000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0" y="1097280"/>
            <a:ext cx="0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1801368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7472" y="1920240"/>
            <a:ext cx="438912" cy="43891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92024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#2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68680" y="2002536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2002536"/>
            <a:ext cx="5943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0.144</a:t>
            </a:r>
            <a:endParaRPr lang="en-US" sz="1200" b="1" dirty="0">
              <a:solidFill>
                <a:srgbClr val="0D948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554480" y="1865376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 Transaction Amount</a:t>
            </a:r>
            <a:endParaRPr lang="en-US" sz="14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554480" y="2148840"/>
            <a:ext cx="71323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Declining total transaction volume signals reduced banking engagement; trigger relationship review when monthly spend drops &gt;20%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297680" y="1892808"/>
            <a:ext cx="4368800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66480" y="1892808"/>
            <a:ext cx="203200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" y="2596896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7472" y="2715768"/>
            <a:ext cx="438912" cy="438912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271576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#3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68680" y="2798064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2798064"/>
            <a:ext cx="5943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0.131</a:t>
            </a:r>
            <a:endParaRPr lang="en-US" sz="1200" b="1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554480" y="2660904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Monthly Transaction Count</a:t>
            </a:r>
            <a:endParaRPr lang="en-US" sz="14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554480" y="2944368"/>
            <a:ext cx="71323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Declining transaction frequency is a strong churn signal; trigger outreach when monthly count drops &gt;30% month-on-month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297680" y="2688336"/>
            <a:ext cx="1778000" cy="18288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75680" y="2688336"/>
            <a:ext cx="2794000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" y="3392424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3511296"/>
            <a:ext cx="438912" cy="438912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" y="351129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#4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68680" y="3593592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8680" y="3593592"/>
            <a:ext cx="5943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0.071</a:t>
            </a:r>
            <a:endParaRPr lang="en-US" sz="1200" b="1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554480" y="3456432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Minimum Due Paid Flag</a:t>
            </a:r>
            <a:endParaRPr lang="en-US" sz="14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554480" y="3739896"/>
            <a:ext cx="71323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Customers paying only the minimum due show financial stress and reduced commitment; flag for early retention intervention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297680" y="3483864"/>
            <a:ext cx="1574800" cy="18288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872480" y="3483864"/>
            <a:ext cx="2997200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4320" y="4187952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47472" y="4306824"/>
            <a:ext cx="438912" cy="438912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7472" y="430682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#5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68680" y="4389120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8680" y="4389120"/>
            <a:ext cx="5943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0.054</a:t>
            </a:r>
            <a:endParaRPr lang="en-US" sz="1200" b="1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554480" y="4251960"/>
            <a:ext cx="2651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RM Interaction Count</a:t>
            </a:r>
            <a:endParaRPr lang="en-US" sz="1400" b="1" dirty="0">
              <a:solidFill>
                <a:srgbClr val="0F1B2D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554480" y="4535424"/>
            <a:ext cx="71323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Low relationship manager contact flags disengagement; proactive RM check-ins and personalised offers improve retention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297680" y="4279392"/>
            <a:ext cx="1371600" cy="18288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9280" y="4279392"/>
            <a:ext cx="3200400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4320" y="4937760"/>
            <a:ext cx="85953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 importances from final XGBoost model — no leakage, fit only on training data</a:t>
            </a:r>
            <a:endParaRPr lang="en-US" sz="1000" i="1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73152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697992"/>
            <a:ext cx="8229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Delivering real business value through data-driven churn intelligence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4114800" cy="1508760"/>
          </a:xfrm>
          <a:prstGeom prst="rect">
            <a:avLst/>
          </a:prstGeom>
          <a:solidFill>
            <a:srgbClr val="1A2F45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344168"/>
            <a:ext cx="3794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🏆  Model Achievement</a:t>
            </a:r>
            <a:endParaRPr lang="en-US" sz="1600" b="1" dirty="0">
              <a:solidFill>
                <a:srgbClr val="0D948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30352" y="1670304"/>
            <a:ext cx="37947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XGBoost with SMOTE achieved PR-AUC of 0.9992 and F1 of 0.9372 — significantly outperforming the logistic regression baseline</a:t>
            </a:r>
            <a:endParaRPr lang="en-US" sz="1400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846320" y="1234440"/>
            <a:ext cx="4114800" cy="1508760"/>
          </a:xfrm>
          <a:prstGeom prst="rect">
            <a:avLst/>
          </a:prstGeom>
          <a:solidFill>
            <a:srgbClr val="1A2F45"/>
          </a:solidFill>
          <a:ln w="127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10912" y="1344168"/>
            <a:ext cx="3794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💰  Business Value</a:t>
            </a:r>
            <a:endParaRPr lang="en-US" sz="1600" b="1" dirty="0">
              <a:solidFill>
                <a:srgbClr val="F59E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010912" y="1670304"/>
            <a:ext cx="37947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Cost-optimised threshold (0.02) achieves 100% recall, catching every churner with total validation cost of just ₹17,500</a:t>
            </a:r>
            <a:endParaRPr lang="en-US" sz="1400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65760" y="2880360"/>
            <a:ext cx="4114800" cy="1508760"/>
          </a:xfrm>
          <a:prstGeom prst="rect">
            <a:avLst/>
          </a:prstGeom>
          <a:solidFill>
            <a:srgbClr val="1A2F45"/>
          </a:solidFill>
          <a:ln w="12700">
            <a:solidFill>
              <a:srgbClr val="22C55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" y="2990088"/>
            <a:ext cx="3794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🔒  Data Integrity</a:t>
            </a:r>
            <a:endParaRPr lang="en-US" sz="1600" b="1" dirty="0">
              <a:solidFill>
                <a:srgbClr val="22C55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0352" y="3300984"/>
            <a:ext cx="37947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Zero data leakage enforced throughout — all preprocessing fit exclusively on training data for honest evaluation</a:t>
            </a:r>
            <a:endParaRPr lang="en-US" sz="1400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846320" y="2880360"/>
            <a:ext cx="4114800" cy="1508760"/>
          </a:xfrm>
          <a:prstGeom prst="rect">
            <a:avLst/>
          </a:prstGeom>
          <a:solidFill>
            <a:srgbClr val="1A2F45"/>
          </a:solidFill>
          <a:ln w="12700">
            <a:solidFill>
              <a:srgbClr val="6366F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10912" y="2990088"/>
            <a:ext cx="3794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366F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🎯  Actionable Output</a:t>
            </a:r>
            <a:endParaRPr lang="en-US" sz="1600" b="1" dirty="0">
              <a:solidFill>
                <a:srgbClr val="6366F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010912" y="3285744"/>
            <a:ext cx="379476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 5 churn drivers: digital logins (0.177), transaction amount (0.144), transaction count (0.131), minimum due paid (0.071), RM interaction (0.054)</a:t>
            </a:r>
            <a:endParaRPr lang="en-US" sz="1400" dirty="0">
              <a:solidFill>
                <a:srgbClr val="94A3B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2,026 test predictions delivered   |   Code fully reproducible   |   GitHub repository available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9248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9580" y="41148"/>
            <a:ext cx="7315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Submission Deliverables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45110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Everything needed to evaluate and reproduce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005840"/>
            <a:ext cx="278892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56032" y="1005840"/>
            <a:ext cx="278892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" y="1115568"/>
            <a:ext cx="2788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2578608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Predictions CSV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7472" y="1993392"/>
            <a:ext cx="26060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1993392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Churnzero_atasikolexi05_Predictions.csv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8912" y="2496312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" y="239572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2,026 rows matching test customer_ids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8912" y="2953512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" y="282244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churn_prediction: binary (0/1)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8912" y="3456432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" y="331774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churn_probability: float 0–1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38912" y="3959352"/>
            <a:ext cx="146304" cy="14630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" y="390448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Zero null values in output columns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200400" y="1005840"/>
            <a:ext cx="278892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0" y="1005840"/>
            <a:ext cx="278892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1115568"/>
            <a:ext cx="2788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📁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310128" y="1600200"/>
            <a:ext cx="2578608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GitHub Repository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291840" y="1993392"/>
            <a:ext cx="26060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1993392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366F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github.com/Atasii/churnzero26-banking-churn</a:t>
            </a:r>
            <a:endParaRPr lang="en-US" altLang="en-US" sz="900" dirty="0">
              <a:latin typeface="Consolas" panose="020B0609020204030204" pitchFamily="34" charset="0"/>
              <a:cs typeface="Consolas" panose="020B060902020403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383280" y="2450592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93592" y="230428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README with reproduction guide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2953512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93592" y="281482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requirements.txt included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383280" y="3456432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93592" y="331774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Notebook runs end-to-end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383280" y="3959352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93592" y="388162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folder structure documented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144768" y="1005840"/>
            <a:ext cx="278892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44768" y="1005840"/>
            <a:ext cx="27889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44768" y="1115568"/>
            <a:ext cx="27889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📓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6254496" y="1600200"/>
            <a:ext cx="2578608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Reproducible Notebook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36208" y="1993392"/>
            <a:ext cx="26060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36208" y="1993392"/>
            <a:ext cx="2606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churnzero_atasikolexi05_code.ipynb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327648" y="249631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233476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Runs top-to-bottom sequentially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327648" y="295351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288340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hidden state or out-of-order cells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6327648" y="345643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37960" y="332536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Comments explain every step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327648" y="395935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37960" y="3805428"/>
            <a:ext cx="2286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seed 42 — deterministic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85495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5433"/>
            <a:ext cx="7315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Appendix — Technical Reference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80060" y="479044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Supplementary details for Q&amp;A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274320" y="931545"/>
          <a:ext cx="8595360" cy="2432304"/>
        </p:xfrm>
        <a:graphic>
          <a:graphicData uri="http://schemas.openxmlformats.org/drawingml/2006/table">
            <a:tbl>
              <a:tblPr/>
              <a:tblGrid>
                <a:gridCol w="2011680"/>
                <a:gridCol w="3840480"/>
                <a:gridCol w="2743200"/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  <a:endParaRPr lang="en-US" sz="14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Formula</a:t>
                      </a:r>
                      <a:endParaRPr lang="en-US" sz="14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 (Validation)</a:t>
                      </a:r>
                      <a:endParaRPr lang="en-US" sz="14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PR-AUC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Area under Precision-Recall curve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0.9992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F1-Score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2 × (P × R) / (P + R)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0.9372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Recall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TP / (TP + FN)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100% (FN = 0)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Precision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TP / (TP + FP)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88.18%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Threshold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Cost-minimised sweep 0.01–0.99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0.02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Business Cost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FP×500 + FN×40000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4155"/>
                          </a:solidFill>
                        </a:rPr>
                        <a:t>₹17,500 (35 FP, 0 FN)</a:t>
                      </a:r>
                      <a:endParaRPr lang="en-US" sz="1400" dirty="0">
                        <a:solidFill>
                          <a:srgbClr val="334155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455670"/>
            <a:ext cx="45720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74320" y="3467100"/>
            <a:ext cx="457200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03860" y="3482467"/>
            <a:ext cx="429768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Dropped Columns (Leakage Risk)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03860" y="3885057"/>
            <a:ext cx="42976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Keyword-based: satisfaction_score, nps_score, complaint_resolution_time, escalation_count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Explicit: mobile_banking_active_flag, unresolved_complaint_count, campaign_response_count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Correlation-based: |corr| &gt; 0.70 to target investigated and removed if post-event</a:t>
            </a:r>
            <a:endParaRPr lang="en-US" sz="10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029200" y="3470910"/>
            <a:ext cx="3840480" cy="150177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029200" y="3467100"/>
            <a:ext cx="384048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66360" y="3548507"/>
            <a:ext cx="35661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Reproducibility Checklist</a:t>
            </a:r>
            <a:endParaRPr lang="en-US" sz="1200" dirty="0"/>
          </a:p>
        </p:txBody>
      </p:sp>
      <p:sp>
        <p:nvSpPr>
          <p:cNvPr id="6" name="Text 11"/>
          <p:cNvSpPr/>
          <p:nvPr/>
        </p:nvSpPr>
        <p:spPr>
          <a:xfrm>
            <a:off x="5166360" y="3885057"/>
            <a:ext cx="356616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np.random.seed(42)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166360" y="4137533"/>
            <a:ext cx="356616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train_test_split(stratify=y, random_state=42)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166360" y="4381754"/>
            <a:ext cx="356616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SMOTE(random_state=42)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5166360" y="4617720"/>
            <a:ext cx="356616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✅  XGBClassifier(random_state=42)</a:t>
            </a:r>
            <a:endParaRPr lang="en-US" sz="1200" dirty="0">
              <a:solidFill>
                <a:srgbClr val="334155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778240" y="4846320"/>
            <a:ext cx="32004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8787</Words>
  <Application>WPS Presentation</Application>
  <PresentationFormat>On-screen Show (16:9)</PresentationFormat>
  <Paragraphs>558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8" baseType="lpstr">
      <vt:lpstr>Arial</vt:lpstr>
      <vt:lpstr>SimSun</vt:lpstr>
      <vt:lpstr>Wingdings</vt:lpstr>
      <vt:lpstr>Calibri</vt:lpstr>
      <vt:lpstr>Calibri</vt:lpstr>
      <vt:lpstr>Calibri</vt:lpstr>
      <vt:lpstr>Georgia</vt:lpstr>
      <vt:lpstr>Georgia</vt:lpstr>
      <vt:lpstr>Georgia</vt:lpstr>
      <vt:lpstr>Consolas</vt:lpstr>
      <vt:lpstr>Consolas</vt:lpstr>
      <vt:lpstr>Consolas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ChurnZero - Banking Customer Churn Prediction</dc:title>
  <dc:creator>PptxGenJS</dc:creator>
  <dc:subject>PptxGenJS Presentation</dc:subject>
  <cp:lastModifiedBy>Atasi Kole</cp:lastModifiedBy>
  <cp:revision>13</cp:revision>
  <dcterms:created xsi:type="dcterms:W3CDTF">2026-05-23T06:16:00Z</dcterms:created>
  <dcterms:modified xsi:type="dcterms:W3CDTF">2026-05-24T07:50:41Z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1033-12.1.0.26372</vt:lpwstr>
  </property>
  <property fmtid="{D5CDD505-2E9C-101B-9397-08002B2CF9AE}" pid="3" name="ICV">
    <vt:lpwstr>AA49E7280BEE4F44A3E6DEB21AD9C8E7_13</vt:lpwstr>
  </property>
</Properties>
</file>