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ChurnZero  |  Competition Round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9436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Team: AtasiKolexi05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5486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Banking Customer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5943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Churn Prediction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2468880"/>
            <a:ext cx="5029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customer churn using machine learning to drive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proactive retention and minimize business cost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333756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Model: XGBoost   |   Primary Metric: PR-AUC   |   May 2025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3017520" cy="114300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0" y="914400"/>
            <a:ext cx="7315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100584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0.9989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108192" y="157276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PR-AUC Score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2286000"/>
            <a:ext cx="3017520" cy="114300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2286000"/>
            <a:ext cx="7315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237744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08192" y="294436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3657600"/>
            <a:ext cx="3017520" cy="114300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0" y="3657600"/>
            <a:ext cx="7315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374904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₹33,500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108192" y="431596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Cost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Model  ·  Banking Churn Intelligence  ·  AtasiKolexi05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545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628"/>
            <a:ext cx="5486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64820" y="489204"/>
            <a:ext cx="5486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challenge are we solving?</a:t>
            </a:r>
            <a:endParaRPr lang="en-US" sz="1200" dirty="0"/>
          </a:p>
        </p:txBody>
      </p:sp>
      <p:grpSp>
        <p:nvGrpSpPr>
          <p:cNvPr id="34" name="Group 33"/>
          <p:cNvGrpSpPr/>
          <p:nvPr/>
        </p:nvGrpSpPr>
        <p:grpSpPr>
          <a:xfrm>
            <a:off x="228600" y="1135380"/>
            <a:ext cx="8641080" cy="3566160"/>
            <a:chOff x="360" y="1584"/>
            <a:chExt cx="13608" cy="5616"/>
          </a:xfrm>
        </p:grpSpPr>
        <p:sp>
          <p:nvSpPr>
            <p:cNvPr id="6" name="Shape 4"/>
            <p:cNvSpPr/>
            <p:nvPr/>
          </p:nvSpPr>
          <p:spPr>
            <a:xfrm>
              <a:off x="360" y="1584"/>
              <a:ext cx="4392" cy="56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360" y="1584"/>
              <a:ext cx="4392" cy="86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576" y="1757"/>
              <a:ext cx="3960" cy="64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1B2D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Business Challenge</a:t>
              </a:r>
              <a:endPara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576" y="2705"/>
              <a:ext cx="317" cy="317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994" y="2606"/>
              <a:ext cx="3600" cy="115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334155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Banks lose 20–30% revenue annually from customer churn</a:t>
              </a:r>
              <a:endPara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576" y="4109"/>
              <a:ext cx="317" cy="317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994" y="3974"/>
              <a:ext cx="3600" cy="115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334155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Acquiring new customers costs 5× more than retaining existing ones</a:t>
              </a:r>
              <a:endPara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576" y="5417"/>
              <a:ext cx="317" cy="317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994" y="5390"/>
              <a:ext cx="3600" cy="115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334155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Early detection enables targeted, cost-effective intervention</a:t>
              </a:r>
              <a:endPara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4968" y="1584"/>
              <a:ext cx="4392" cy="56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4968" y="1584"/>
              <a:ext cx="4392" cy="86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184" y="1757"/>
              <a:ext cx="3960" cy="64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1B2D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Why Churn Prediction Matters</a:t>
              </a:r>
              <a:endPara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5184" y="2621"/>
              <a:ext cx="317" cy="317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5602" y="2354"/>
              <a:ext cx="3600" cy="115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334155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Each missed churner (FN) costs the bank ₹40,000</a:t>
              </a:r>
              <a:endPara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5184" y="3917"/>
              <a:ext cx="317" cy="317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5602" y="3746"/>
              <a:ext cx="3600" cy="115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334155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Wrongly flagging loyal customers (FP) costs ₹500 per case</a:t>
              </a:r>
              <a:endPara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5184" y="5309"/>
              <a:ext cx="317" cy="317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5602" y="5234"/>
              <a:ext cx="3600" cy="115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334155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A data-driven model prioritizes outreach &amp; minimizes spend</a:t>
              </a:r>
              <a:endPara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9576" y="1584"/>
              <a:ext cx="4392" cy="56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9576" y="1584"/>
              <a:ext cx="4392" cy="86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9792" y="1757"/>
              <a:ext cx="3960" cy="64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1B2D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Expected Business Impact</a:t>
              </a:r>
              <a:endPara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9792" y="2621"/>
              <a:ext cx="317" cy="317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10210" y="2546"/>
              <a:ext cx="3600" cy="115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334155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Proactive identification of high-risk customers before they exit</a:t>
              </a:r>
              <a:endPara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9792" y="3989"/>
              <a:ext cx="317" cy="317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10210" y="3686"/>
              <a:ext cx="3600" cy="115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334155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Significant reduction in total churn-related financial loss</a:t>
              </a:r>
              <a:endPara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9792" y="5213"/>
              <a:ext cx="317" cy="317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10210" y="4826"/>
              <a:ext cx="3600" cy="115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334155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Actionable insights into top churn drivers for strategy</a:t>
              </a:r>
              <a:endPara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sp>
        <p:nvSpPr>
          <p:cNvPr id="33" name="Text 31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620"/>
            <a:ext cx="914400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924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9580" y="71628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Objective &amp; Approach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87680" y="481584"/>
            <a:ext cx="6400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 strategy at a glance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8321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Goal: Predict binary customer churn (0/1) on 2,026 test customers — maximising PR-AUC and minimising total business cost</a:t>
            </a:r>
            <a:endParaRPr lang="en-US" sz="1200" dirty="0">
              <a:solidFill>
                <a:srgbClr val="0F1B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1261872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737360"/>
            <a:ext cx="12618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200" b="1" dirty="0">
              <a:solidFill>
                <a:srgbClr val="0D9488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1984248"/>
            <a:ext cx="126187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Audit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Leakage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Removal</a:t>
            </a:r>
            <a:endParaRPr 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536192" y="2121408"/>
            <a:ext cx="15544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1691640"/>
            <a:ext cx="1261872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91640" y="1737360"/>
            <a:ext cx="12618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200" b="1" dirty="0">
              <a:solidFill>
                <a:srgbClr val="0D9488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91640" y="1984248"/>
            <a:ext cx="126187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&amp;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953512" y="2121408"/>
            <a:ext cx="15544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1691640"/>
            <a:ext cx="1261872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08960" y="1737360"/>
            <a:ext cx="12618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200" b="1" dirty="0">
              <a:solidFill>
                <a:srgbClr val="0D9488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108960" y="1984248"/>
            <a:ext cx="126187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SMOTE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Imbalance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Handling</a:t>
            </a:r>
            <a:endParaRPr 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70832" y="2121408"/>
            <a:ext cx="15544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1691640"/>
            <a:ext cx="126187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26280" y="1737360"/>
            <a:ext cx="12618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200" b="1" dirty="0">
              <a:solidFill>
                <a:srgbClr val="0F1B2D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26280" y="1984248"/>
            <a:ext cx="126187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(XGBoost)</a:t>
            </a:r>
            <a:endParaRPr 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788152" y="2121408"/>
            <a:ext cx="15544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691640"/>
            <a:ext cx="1261872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0" y="1737360"/>
            <a:ext cx="12618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200" b="1" dirty="0">
              <a:solidFill>
                <a:srgbClr val="0D9488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943600" y="1984248"/>
            <a:ext cx="126187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Optimization</a:t>
            </a:r>
            <a:endParaRPr 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205472" y="2121408"/>
            <a:ext cx="15544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1691640"/>
            <a:ext cx="1261872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60920" y="1737360"/>
            <a:ext cx="12618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1200" b="1" dirty="0">
              <a:solidFill>
                <a:srgbClr val="0D9488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360920" y="1984248"/>
            <a:ext cx="126187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Predictions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Insights</a:t>
            </a:r>
            <a:endParaRPr 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432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288036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97180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PRINCIPLES</a:t>
            </a:r>
            <a:endParaRPr lang="en-US" sz="1400" b="1" dirty="0">
              <a:solidFill>
                <a:srgbClr val="0F1B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11480" y="3291840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No Data Leakage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11480" y="3611880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Cost-Sensitive Threshold Tuning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11480" y="3931920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Reproducible Pipeline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11480" y="4251960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Business-First Framing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846320" y="288036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2880360"/>
            <a:ext cx="4023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297180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FORMULA</a:t>
            </a:r>
            <a:endParaRPr lang="en-US" sz="1400" b="1" dirty="0">
              <a:solidFill>
                <a:srgbClr val="0F1B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983480" y="329184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PR-AUC (primary)  ·  F1-Score (secondary)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983480" y="3657600"/>
            <a:ext cx="36576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3657600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Cost = FP × ₹500 + </a:t>
            </a: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 × ₹40,000</a:t>
            </a:r>
            <a:endParaRPr lang="en-US" sz="1400" b="1" dirty="0">
              <a:solidFill>
                <a:srgbClr val="0F1B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983480" y="42519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tuned to minimise total business cost</a:t>
            </a:r>
            <a:endParaRPr lang="en-US" sz="1200" dirty="0">
              <a:solidFill>
                <a:srgbClr val="94A3B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3528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49580" y="458724"/>
            <a:ext cx="6400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ChurnZero — 97 features across 8 behavioral categories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96596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0584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8,101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F0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Rows</a:t>
            </a:r>
            <a:endParaRPr lang="en-US" sz="1200" dirty="0">
              <a:solidFill>
                <a:srgbClr val="D0F0E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50592" y="960120"/>
            <a:ext cx="1965960" cy="8686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00584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2,026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146304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F0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Rows</a:t>
            </a:r>
            <a:endParaRPr lang="en-US" sz="1200" dirty="0">
              <a:solidFill>
                <a:srgbClr val="D0F0E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26864" y="960120"/>
            <a:ext cx="196596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00584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6864" y="146304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F0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Features</a:t>
            </a:r>
            <a:endParaRPr lang="en-US" sz="1200" dirty="0">
              <a:solidFill>
                <a:srgbClr val="D0F0E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803136" y="960120"/>
            <a:ext cx="19659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03136" y="100584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~20%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03136" y="146304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F0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Churn Rate</a:t>
            </a:r>
            <a:endParaRPr lang="en-US" sz="1200" dirty="0">
              <a:solidFill>
                <a:srgbClr val="D0F0E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1965960"/>
            <a:ext cx="8595360" cy="329184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965960"/>
            <a:ext cx="3474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40480" y="1965960"/>
            <a:ext cx="822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63440" y="1965960"/>
            <a:ext cx="4114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Features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2295144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295144"/>
            <a:ext cx="3474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Profile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005072" y="2368296"/>
            <a:ext cx="47548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05072" y="2368296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63440" y="2295144"/>
            <a:ext cx="4114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age, gender, annual_income, city_tier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624328"/>
            <a:ext cx="859536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624328"/>
            <a:ext cx="3474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 &amp; Tenure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005072" y="2697480"/>
            <a:ext cx="47548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05072" y="2697480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663440" y="2624328"/>
            <a:ext cx="4114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tenure_months, customer_lifetime_value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74320" y="2953512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953512"/>
            <a:ext cx="3474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 &amp; Transaction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005072" y="3026664"/>
            <a:ext cx="47548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05072" y="3026664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63440" y="2953512"/>
            <a:ext cx="4114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avg_monthly_balance, balance_decline_%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74320" y="3282696"/>
            <a:ext cx="859536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282696"/>
            <a:ext cx="3474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Holding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005072" y="3355848"/>
            <a:ext cx="47548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05072" y="3355848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663440" y="3282696"/>
            <a:ext cx="4114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credit_card_flag, home_loan_flag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74320" y="3611880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11880"/>
            <a:ext cx="3474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Credit Card &amp; Loan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005072" y="3685032"/>
            <a:ext cx="47548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05072" y="3685032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663440" y="3611880"/>
            <a:ext cx="4114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credit_utilization_ratio, loan_default_risk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74320" y="3941064"/>
            <a:ext cx="859536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941064"/>
            <a:ext cx="3474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Banking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005072" y="4014216"/>
            <a:ext cx="47548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05072" y="4014216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663440" y="3941064"/>
            <a:ext cx="4114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mobile_app_logins, digital_txn_ratio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274320" y="4270248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270248"/>
            <a:ext cx="3474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&amp; Complaints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005072" y="4343400"/>
            <a:ext cx="47548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05072" y="4343400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663440" y="4270248"/>
            <a:ext cx="4114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total_complaints, satisfaction_score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274320" y="4599432"/>
            <a:ext cx="859536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599432"/>
            <a:ext cx="3474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Marketing &amp; Retention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005072" y="4672584"/>
            <a:ext cx="47548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05072" y="4672584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4663440" y="4599432"/>
            <a:ext cx="4114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campaign_received, retention_offer_accepted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620" y="7924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1960" y="48768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64820" y="45872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patterns &amp; customer behavior insights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58240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Imbalance</a:t>
            </a:r>
            <a:endParaRPr lang="en-US" sz="1600" b="1" dirty="0">
              <a:solidFill>
                <a:srgbClr val="0F1B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405128"/>
            <a:ext cx="37947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~20% churn rate — heavily imbalanced dataset. PR-AUC used as primary metric (robust to imbalance vs accuracy).</a:t>
            </a:r>
            <a:endParaRPr lang="en-US" sz="14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58240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Activity (Imp: 0.212)</a:t>
            </a:r>
            <a:endParaRPr lang="en-US" sz="1600" b="1" dirty="0">
              <a:solidFill>
                <a:srgbClr val="0F1B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1519428"/>
            <a:ext cx="37947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monthly_transaction_count and total_digital_logins (0.202) are the top two predictors. Low activity strongly signals churn intent.</a:t>
            </a:r>
            <a:endParaRPr lang="en-US" sz="14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64008" cy="17373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78480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Tenure &amp; Products</a:t>
            </a:r>
            <a:endParaRPr lang="en-US" sz="1600" b="1" dirty="0">
              <a:solidFill>
                <a:srgbClr val="0F1B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325368"/>
            <a:ext cx="37947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with shorter tenure (&lt;12 months) and single-product holding show significantly higher churn rates.</a:t>
            </a:r>
            <a:endParaRPr lang="en-US" sz="14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926080"/>
            <a:ext cx="64008" cy="1737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078480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 Interaction &amp; Referrals</a:t>
            </a:r>
            <a:endParaRPr lang="en-US" sz="1600" b="1" dirty="0">
              <a:solidFill>
                <a:srgbClr val="0F1B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3325368"/>
            <a:ext cx="37947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relationship_manager_interaction_count (0.075) and referral_count (0.057) round out top 5. Low engagement flags low loyalty.</a:t>
            </a:r>
            <a:endParaRPr lang="en-US" sz="14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924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9580" y="56388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80060" y="458724"/>
            <a:ext cx="6400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Leakage-free, reproducible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46988"/>
            <a:ext cx="3840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b="1" dirty="0">
              <a:solidFill>
                <a:srgbClr val="0D9488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4672" y="106984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Leakage Audit &amp; Column Removal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</a:t>
            </a: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Dropped columns with correlation &gt;0.7 to churn target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1827276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</a:t>
            </a: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Removed post-event keyword columns: satisfaction, nps, resolution, escalation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2249424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</a:t>
            </a: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Explicitly excluded: unresolved_complaint_count, campaign_response_count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4114800" cy="38404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054608"/>
            <a:ext cx="3840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b="1" dirty="0">
              <a:solidFill>
                <a:srgbClr val="0D9488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85232" y="106984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Value Imputation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92040" y="1481328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</a:t>
            </a: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Numeric columns → filled with training-set median (no test leakage)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92040" y="1865376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</a:t>
            </a: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Categorical columns → filled with training-set mode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92040" y="2249424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</a:t>
            </a: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Imputation computed on train only, then applied to both train &amp; test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4114800" cy="38404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959608"/>
            <a:ext cx="3840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b="1" dirty="0">
              <a:solidFill>
                <a:srgbClr val="0D9488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4672" y="299008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Encoding &amp; Scaling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11480" y="3401568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</a:t>
            </a: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One-hot encoding for all categorical features (drop_first=True)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11480" y="3785616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</a:t>
            </a: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 alignment: test set synced to training feature set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11480" y="4169664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</a:t>
            </a: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StandardScaler fit on train only, transformed on both sets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54880" y="29260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926080"/>
            <a:ext cx="4114800" cy="38404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974848"/>
            <a:ext cx="3840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b="1" dirty="0">
              <a:solidFill>
                <a:srgbClr val="0D9488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85232" y="299008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Train-Validation Split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92040" y="3401568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</a:t>
            </a: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80/20 stratified split (stratify=y) to preserve churn ratio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92040" y="3785616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</a:t>
            </a: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seed 42 for full reproducibility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92040" y="4169664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</a:t>
            </a: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model retrained on full training set after threshold selection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Model Development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64820" y="45110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selection, SMOTE, and training strategy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39319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</a:t>
            </a:r>
            <a:endParaRPr lang="en-US" sz="1000" b="1" dirty="0">
              <a:solidFill>
                <a:srgbClr val="94A3B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415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3657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</a:t>
            </a: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class_weight='balanced' — no SMOTE applied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057400"/>
            <a:ext cx="3657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</a:t>
            </a: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Quick, interpretable benchmark model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2377440"/>
            <a:ext cx="36576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</a:t>
            </a: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Establishes minimum PR-AUC floor for comparison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429768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0972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MODEL</a:t>
            </a:r>
            <a:endParaRPr lang="en-US" sz="1000" b="1" dirty="0">
              <a:solidFill>
                <a:srgbClr val="CCFBF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09160" y="1353312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XGBoost Classifier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9160" y="1737360"/>
            <a:ext cx="39776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n_estimators=200, max_depth=6, learning_rate=0.05</a:t>
            </a:r>
            <a:endParaRPr 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09160" y="2057400"/>
            <a:ext cx="39776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scale_pos_weight from resampled class ratio</a:t>
            </a:r>
            <a:endParaRPr 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09160" y="2377440"/>
            <a:ext cx="39776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non-linearity and feature interactions natively</a:t>
            </a:r>
            <a:endParaRPr lang="en-US" sz="1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8595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71800"/>
            <a:ext cx="8595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SMOTE — Handling Class Imbalance (~20% churn rate)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456432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Minority Oversampling creates new churn examples to balance training data — prevents model bias toward majority class.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54880" y="3429000"/>
            <a:ext cx="393192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429000"/>
            <a:ext cx="3749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ONLY to training data — validation and test sets remain untouched for honest, realistic evaluation</a:t>
            </a:r>
            <a:endParaRPr lang="en-US" sz="1200" b="1" dirty="0">
              <a:solidFill>
                <a:srgbClr val="0F1B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429006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XGBoost:  robust to feature scale  ·  built-in L1/L2 regularization  ·  superior performance on tabular imbalanced data</a:t>
            </a:r>
            <a:endParaRPr lang="en-US" sz="1200" b="1" dirty="0">
              <a:solidFill>
                <a:srgbClr val="0D948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668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Evaluation Metrics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35864"/>
            <a:ext cx="6400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PR-AUC matters for imbalanced churn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15568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PR-AUC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108960" y="1170432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170432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Metric</a:t>
            </a:r>
            <a:endParaRPr lang="en-US" sz="10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1600200"/>
            <a:ext cx="3840480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Precision-Recall AUC. Robust to class imbalance. Rewards models that find true churners without excessive false alarms.</a:t>
            </a:r>
            <a:endParaRPr lang="en-US" sz="14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114800" cy="54864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115568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F1-Score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589520" y="1170432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1170432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Secondary Metric</a:t>
            </a:r>
            <a:endParaRPr lang="en-US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92040" y="1600200"/>
            <a:ext cx="3840480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Harmonic mean of Precision &amp; Recall on the positive class. Balances both aspects of churn detection quality.</a:t>
            </a:r>
            <a:endParaRPr lang="en-US" sz="14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26080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35808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Recall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108960" y="3090672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3090672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Priority</a:t>
            </a:r>
            <a:endParaRPr lang="en-US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11480" y="3520440"/>
            <a:ext cx="3840480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 of actual churners correctly flagged. Critical: a missed churner (FN) costs ₹40,000 — recall is maximised within cost budget.</a:t>
            </a:r>
            <a:endParaRPr lang="en-US" sz="14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26080"/>
            <a:ext cx="4114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035808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Precision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589520" y="3090672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3090672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Control</a:t>
            </a:r>
            <a:endParaRPr lang="en-US" sz="10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92040" y="3520440"/>
            <a:ext cx="3840480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 of flagged customers who actually churn. Controls over-spending retention budget on loyal customers.</a:t>
            </a:r>
            <a:endParaRPr lang="en-US" sz="14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Cost Formula:   Total Cost  =  (FP × ₹500)  +  (FN × ₹40,000)   →   Threshold optimised to MINIMISE this value</a:t>
            </a:r>
            <a:endParaRPr lang="en-US" sz="1200" b="1" dirty="0">
              <a:solidFill>
                <a:srgbClr val="0D948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38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Results &amp;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5791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performance on validation set — actual notebook output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296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011680" cy="128016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70432"/>
            <a:ext cx="2011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0.9989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719072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PR-AUC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95681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near-perfect</a:t>
            </a:r>
            <a:endParaRPr lang="en-US" sz="1200" dirty="0">
              <a:solidFill>
                <a:srgbClr val="94A3B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50592" y="1097280"/>
            <a:ext cx="2011680" cy="1280160"/>
          </a:xfrm>
          <a:prstGeom prst="rect">
            <a:avLst/>
          </a:prstGeom>
          <a:solidFill>
            <a:srgbClr val="1A2F45"/>
          </a:solidFill>
          <a:ln w="12700">
            <a:solidFill>
              <a:srgbClr val="6366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170432"/>
            <a:ext cx="2011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366F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0.886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50592" y="1719072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F1-Score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50592" y="195681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optimal threshold</a:t>
            </a:r>
            <a:endParaRPr lang="en-US" sz="1200" dirty="0">
              <a:solidFill>
                <a:srgbClr val="94A3B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26864" y="1097280"/>
            <a:ext cx="2011680" cy="1280160"/>
          </a:xfrm>
          <a:prstGeom prst="rect">
            <a:avLst/>
          </a:prstGeom>
          <a:solidFill>
            <a:srgbClr val="1A2F45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170432"/>
            <a:ext cx="2011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26864" y="1719072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26864" y="195681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churners detected</a:t>
            </a:r>
            <a:endParaRPr lang="en-US" sz="1200" dirty="0">
              <a:solidFill>
                <a:srgbClr val="94A3B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03136" y="1097280"/>
            <a:ext cx="2011680" cy="1280160"/>
          </a:xfrm>
          <a:prstGeom prst="rect">
            <a:avLst/>
          </a:prstGeom>
          <a:solidFill>
            <a:srgbClr val="1A2F45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1170432"/>
            <a:ext cx="2011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79.6%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03136" y="1719072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03136" y="195681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false alarm rate</a:t>
            </a:r>
            <a:endParaRPr lang="en-US" sz="1200" dirty="0">
              <a:solidFill>
                <a:srgbClr val="94A3B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2487168"/>
            <a:ext cx="4572000" cy="237744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2980" y="2458212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Confusion Matrix  (Optimal Threshold = 0.01)</a:t>
            </a:r>
            <a:endParaRPr lang="en-US" sz="1200" dirty="0"/>
          </a:p>
        </p:txBody>
      </p:sp>
      <p:grpSp>
        <p:nvGrpSpPr>
          <p:cNvPr id="41" name="Group 40"/>
          <p:cNvGrpSpPr/>
          <p:nvPr/>
        </p:nvGrpSpPr>
        <p:grpSpPr>
          <a:xfrm>
            <a:off x="670560" y="2793365"/>
            <a:ext cx="3749040" cy="1938655"/>
            <a:chOff x="720" y="4291"/>
            <a:chExt cx="5904" cy="3053"/>
          </a:xfrm>
        </p:grpSpPr>
        <p:sp>
          <p:nvSpPr>
            <p:cNvPr id="23" name="Shape 21"/>
            <p:cNvSpPr/>
            <p:nvPr/>
          </p:nvSpPr>
          <p:spPr>
            <a:xfrm>
              <a:off x="720" y="4608"/>
              <a:ext cx="2808" cy="1224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720" y="4608"/>
              <a:ext cx="2808" cy="122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TN ✓</a:t>
              </a:r>
              <a:endParaRPr lang="en-US" sz="13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816" y="4608"/>
              <a:ext cx="2808" cy="1224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3816" y="4608"/>
              <a:ext cx="2808" cy="122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FP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₹500/case</a:t>
              </a:r>
              <a:endParaRPr lang="en-US" sz="13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20" y="6120"/>
              <a:ext cx="2808" cy="1224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720" y="6120"/>
              <a:ext cx="2808" cy="122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FN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₹40,000/case</a:t>
              </a:r>
              <a:endParaRPr lang="en-US" sz="13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816" y="6120"/>
              <a:ext cx="2808" cy="1224"/>
            </a:xfrm>
            <a:prstGeom prst="rect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3816" y="6120"/>
              <a:ext cx="2808" cy="122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TP ✓</a:t>
              </a:r>
              <a:endParaRPr lang="en-US" sz="13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20" y="4303"/>
              <a:ext cx="2808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94A3B8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Pred: No Churn</a:t>
              </a:r>
              <a:endPara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3816" y="4291"/>
              <a:ext cx="2808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94A3B8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Pred: Churn</a:t>
              </a:r>
              <a:endPara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sp>
        <p:nvSpPr>
          <p:cNvPr id="33" name="Shape 31"/>
          <p:cNvSpPr/>
          <p:nvPr/>
        </p:nvSpPr>
        <p:spPr>
          <a:xfrm>
            <a:off x="5029200" y="2487168"/>
            <a:ext cx="3840480" cy="2377440"/>
          </a:xfrm>
          <a:prstGeom prst="rect">
            <a:avLst/>
          </a:prstGeom>
          <a:solidFill>
            <a:srgbClr val="1A2F4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2578608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 Business Cost at Optimal Threshold</a:t>
            </a:r>
            <a:endParaRPr lang="en-US" sz="1400" b="1" dirty="0">
              <a:solidFill>
                <a:srgbClr val="F59E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166360" y="2926080"/>
            <a:ext cx="3566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9E0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₹33,500</a:t>
            </a:r>
            <a:endParaRPr lang="en-US" sz="4800" dirty="0"/>
          </a:p>
        </p:txBody>
      </p:sp>
      <p:sp>
        <p:nvSpPr>
          <p:cNvPr id="36" name="Text 34"/>
          <p:cNvSpPr/>
          <p:nvPr/>
        </p:nvSpPr>
        <p:spPr>
          <a:xfrm>
            <a:off x="5166360" y="363931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 = 0 (₹0)  +  FP = 67 (₹33,500)  =  Total ₹33,500</a:t>
            </a:r>
            <a:endParaRPr lang="en-US" sz="1200" dirty="0">
              <a:solidFill>
                <a:srgbClr val="94A3B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166360" y="4023360"/>
            <a:ext cx="3566160" cy="594360"/>
          </a:xfrm>
          <a:prstGeom prst="rect">
            <a:avLst/>
          </a:prstGeom>
          <a:solidFill>
            <a:srgbClr val="0A152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4023360"/>
            <a:ext cx="3474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0.01 → 100% Recall — catches every churner</a:t>
            </a:r>
            <a:endParaRPr lang="en-US" sz="1200" b="1" dirty="0">
              <a:solidFill>
                <a:srgbClr val="14B8A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Near-perfect PR-AUC (0.9989) and 100% Recall suggest the dataset is synthetic or strongly separable. Model performance is valid given the data provided.</a:t>
            </a:r>
            <a:endParaRPr lang="en-US" sz="1000" i="1" dirty="0">
              <a:solidFill>
                <a:srgbClr val="94A3B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Business Insights &amp;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80060" y="443484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churn drivers from XGBoost feature importances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2471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12471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#1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8680" y="1207008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207008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0.212</a:t>
            </a:r>
            <a:endParaRPr lang="en-US" sz="1200" b="1" dirty="0">
              <a:solidFill>
                <a:srgbClr val="0D948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54480" y="1069848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Transaction Count</a:t>
            </a:r>
            <a:endParaRPr lang="en-US" sz="1400" b="1" dirty="0">
              <a:solidFill>
                <a:srgbClr val="0F1B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54480" y="1353312"/>
            <a:ext cx="7132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Declining transaction frequency is the strongest churn signal; trigger outreach at &gt;30% MoM drop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97680" y="1097280"/>
            <a:ext cx="4572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0" y="1097280"/>
            <a:ext cx="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801368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1920240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92024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#2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68680" y="2002536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002536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0.202</a:t>
            </a:r>
            <a:endParaRPr lang="en-US" sz="1200" b="1" dirty="0">
              <a:solidFill>
                <a:srgbClr val="0D948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554480" y="1865376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Digital Logins</a:t>
            </a:r>
            <a:endParaRPr lang="en-US" sz="1400" b="1" dirty="0">
              <a:solidFill>
                <a:srgbClr val="0F1B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54480" y="2148840"/>
            <a:ext cx="7132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digital banking activity indicates reduced loyalty; re-engage via personalised app campaigns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297680" y="1892808"/>
            <a:ext cx="43688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66480" y="1892808"/>
            <a:ext cx="203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596896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2715768"/>
            <a:ext cx="438912" cy="438912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71576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#3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68680" y="2798064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2798064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0.075</a:t>
            </a:r>
            <a:endParaRPr lang="en-US" sz="1200" b="1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554480" y="2660904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 Interaction Count</a:t>
            </a:r>
            <a:endParaRPr lang="en-US" sz="1400" b="1" dirty="0">
              <a:solidFill>
                <a:srgbClr val="0F1B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554480" y="2944368"/>
            <a:ext cx="7132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relationship manager contact flags disengagement; proactive RM check-ins improve retention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297680" y="2688336"/>
            <a:ext cx="177800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75680" y="2688336"/>
            <a:ext cx="27940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3924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" y="3511296"/>
            <a:ext cx="438912" cy="438912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51129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#4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68680" y="3593592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3593592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0.066</a:t>
            </a:r>
            <a:endParaRPr lang="en-US" sz="1200" b="1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554480" y="3456432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 Decline %</a:t>
            </a:r>
            <a:endParaRPr lang="en-US" sz="1400" b="1" dirty="0">
              <a:solidFill>
                <a:srgbClr val="0F1B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554480" y="3739896"/>
            <a:ext cx="7132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Falling balances signal imminent exit; immediate outreach recommended at &gt;15% monthly decline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297680" y="3483864"/>
            <a:ext cx="157480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72480" y="3483864"/>
            <a:ext cx="29972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187952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47472" y="4306824"/>
            <a:ext cx="438912" cy="438912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430682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#5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68680" y="438912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438912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0.057</a:t>
            </a:r>
            <a:endParaRPr lang="en-US" sz="1200" b="1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554480" y="42519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Referral Count</a:t>
            </a:r>
            <a:endParaRPr lang="en-US" sz="1400" b="1" dirty="0">
              <a:solidFill>
                <a:srgbClr val="0F1B2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554480" y="4535424"/>
            <a:ext cx="7132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who refer others are deeply loyal; low referral count = low brand attachment and churn risk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297680" y="4279392"/>
            <a:ext cx="137160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0" y="4279392"/>
            <a:ext cx="32004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importances from final XGBoost model — no leakage, fit only on training data</a:t>
            </a:r>
            <a:endParaRPr lang="en-US" sz="1000" i="1" dirty="0">
              <a:solidFill>
                <a:srgbClr val="94A3B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7315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9799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Delivering real business value through data-driven churn intelligence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4114800" cy="150876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344168"/>
            <a:ext cx="3794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 Model Achievement</a:t>
            </a:r>
            <a:endParaRPr lang="en-US" sz="1600" b="1" dirty="0">
              <a:solidFill>
                <a:srgbClr val="0D948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0352" y="1670304"/>
            <a:ext cx="3794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with SMOTE achieved PR-AUC of 0.9989 and F1 of 0.886 — significantly outperforming the logistic regression baseline</a:t>
            </a:r>
            <a:endParaRPr lang="en-US" sz="1400" dirty="0">
              <a:solidFill>
                <a:srgbClr val="94A3B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4114800" cy="1508760"/>
          </a:xfrm>
          <a:prstGeom prst="rect">
            <a:avLst/>
          </a:prstGeom>
          <a:solidFill>
            <a:srgbClr val="1A2F45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10912" y="1344168"/>
            <a:ext cx="3794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 Business Value</a:t>
            </a:r>
            <a:endParaRPr lang="en-US" sz="1600" b="1" dirty="0">
              <a:solidFill>
                <a:srgbClr val="F59E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10912" y="1670304"/>
            <a:ext cx="3794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Cost-optimised threshold (0.01) achieves 100% recall, catching every churner with total validation cost of just ₹33,500</a:t>
            </a:r>
            <a:endParaRPr lang="en-US" sz="1400" dirty="0">
              <a:solidFill>
                <a:srgbClr val="94A3B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4114800" cy="1508760"/>
          </a:xfrm>
          <a:prstGeom prst="rect">
            <a:avLst/>
          </a:prstGeom>
          <a:solidFill>
            <a:srgbClr val="1A2F45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2990088"/>
            <a:ext cx="3794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🔒  Data Integrity</a:t>
            </a:r>
            <a:endParaRPr lang="en-US" sz="1600" b="1" dirty="0">
              <a:solidFill>
                <a:srgbClr val="22C55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0352" y="3300984"/>
            <a:ext cx="3794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data leakage enforced throughout — all preprocessing fit exclusively on training data for honest evaluation</a:t>
            </a:r>
            <a:endParaRPr lang="en-US" sz="1400" dirty="0">
              <a:solidFill>
                <a:srgbClr val="94A3B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46320" y="2880360"/>
            <a:ext cx="4114800" cy="1508760"/>
          </a:xfrm>
          <a:prstGeom prst="rect">
            <a:avLst/>
          </a:prstGeom>
          <a:solidFill>
            <a:srgbClr val="1A2F45"/>
          </a:solidFill>
          <a:ln w="12700">
            <a:solidFill>
              <a:srgbClr val="6366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10912" y="2990088"/>
            <a:ext cx="3794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Actionable Output</a:t>
            </a:r>
            <a:endParaRPr lang="en-US" sz="1600" b="1" dirty="0">
              <a:solidFill>
                <a:srgbClr val="6366F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10912" y="3285744"/>
            <a:ext cx="3794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5 churn drivers: transaction count (0.212), digital logins (0.202), RM interaction (0.075), balance decline (0.066), referrals (0.057)</a:t>
            </a:r>
            <a:endParaRPr lang="en-US" sz="1400" dirty="0">
              <a:solidFill>
                <a:srgbClr val="94A3B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2,026 test predictions delivered   |   Code fully reproducible   |   GitHub repository available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924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9580" y="41148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Submission Deliverables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51104"/>
            <a:ext cx="6400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Everything needed to evaluate and reproduce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7889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2788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15568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25786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Predictions CSV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1993392"/>
            <a:ext cx="26060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993392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Churnzero_atasikolexi05_Predictions.csv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" y="249631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2395728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2,026 rows matching test customer_ids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8912" y="295351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2822448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churn_prediction: binary (0/1)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8912" y="345643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317748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churn_probability: float 0–1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8912" y="395935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3904488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null values in output columns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0" y="1005840"/>
            <a:ext cx="27889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005840"/>
            <a:ext cx="278892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115568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📁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310128" y="1600200"/>
            <a:ext cx="25786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91840" y="1993392"/>
            <a:ext cx="26060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1993392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github.com/Atasii/churnzero26-banking-churn</a:t>
            </a:r>
            <a:endParaRPr lang="en-US" altLang="en-US" sz="900" dirty="0">
              <a:latin typeface="Consolas" panose="020B0609020204030204" pitchFamily="34" charset="0"/>
              <a:cs typeface="Consolas" panose="020B0609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383280" y="2450592"/>
            <a:ext cx="146304" cy="14630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2304288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README with reproduction guide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383280" y="2953512"/>
            <a:ext cx="146304" cy="14630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3592" y="2814828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requirements.txt included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383280" y="3456432"/>
            <a:ext cx="146304" cy="14630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3317748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Notebook runs end-to-end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383280" y="3959352"/>
            <a:ext cx="146304" cy="14630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3881628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folder structure documented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144768" y="1005840"/>
            <a:ext cx="27889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44768" y="1005840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1115568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📓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6254496" y="1600200"/>
            <a:ext cx="25786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Reproducible Notebook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36208" y="1993392"/>
            <a:ext cx="26060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1993392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churnzero_atasikolexi05_code.ipynb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27648" y="249631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2334768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top-to-bottom sequentially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27648" y="295351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2883408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hidden state or out-of-order cells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327648" y="345643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3325368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Comments explain every step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327648" y="395935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3805428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seed 42 — deterministic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5495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5433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Appendix — Technical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80060" y="479044"/>
            <a:ext cx="6400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Supplementary details for Q&amp;A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274320" y="931545"/>
          <a:ext cx="8595360" cy="2432304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274320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4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Formula</a:t>
                      </a:r>
                      <a:endParaRPr lang="en-US" sz="14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 (Validation)</a:t>
                      </a:r>
                      <a:endParaRPr lang="en-US" sz="14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PR-AUC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Area under Precision-Recall curve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0.9989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F1-Score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2 × (P × R) / (P + R)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0.886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Recall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TP / (TP + FN)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100% (FN = 0)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Precision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TP / (TP + FP)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79.6%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Threshold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Cost-minimised sweep 0.01–0.99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0.01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Business Cost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FP×500 + FN×40000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₹33,500 (67 FP, 0 FN)</a:t>
                      </a:r>
                      <a:endParaRPr lang="en-US" sz="1400" dirty="0">
                        <a:solidFill>
                          <a:srgbClr val="334155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455670"/>
            <a:ext cx="4572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3467100"/>
            <a:ext cx="4572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3860" y="3482467"/>
            <a:ext cx="4297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Dropped Columns (Leakage Risk)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3860" y="3885057"/>
            <a:ext cx="4297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Keyword-based: satisfaction_score, nps_score, complaint_resolution_time, escalation_count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Explicit: mobile_banking_active_flag, unresolved_complaint_count, campaign_response_count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Correlation-based: |corr| &gt; 0.70 to target investigated and removed if post-event</a:t>
            </a:r>
            <a:endParaRPr lang="en-US" sz="10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029200" y="3470910"/>
            <a:ext cx="3840480" cy="15017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3467100"/>
            <a:ext cx="38404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66360" y="3548507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Reproducibility Checklist</a:t>
            </a:r>
            <a:endParaRPr lang="en-US" sz="1200" dirty="0"/>
          </a:p>
        </p:txBody>
      </p:sp>
      <p:sp>
        <p:nvSpPr>
          <p:cNvPr id="6" name="Text 11"/>
          <p:cNvSpPr/>
          <p:nvPr/>
        </p:nvSpPr>
        <p:spPr>
          <a:xfrm>
            <a:off x="5166360" y="3885057"/>
            <a:ext cx="3566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np.random.seed(42)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166360" y="4137533"/>
            <a:ext cx="3566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train_test_split(stratify=y, random_state=42)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166360" y="4381754"/>
            <a:ext cx="3566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SMOTE(random_state=42)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166360" y="4617720"/>
            <a:ext cx="3566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XGBClassifier(random_state=42)</a:t>
            </a:r>
            <a:endParaRPr lang="en-US" sz="1200" dirty="0">
              <a:solidFill>
                <a:srgbClr val="33415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8783</Words>
  <Application>WPS Presentation</Application>
  <PresentationFormat>On-screen Show (16:9)</PresentationFormat>
  <Paragraphs>558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Calibri</vt:lpstr>
      <vt:lpstr>Calibri</vt:lpstr>
      <vt:lpstr>Georgia</vt:lpstr>
      <vt:lpstr>Georgia</vt:lpstr>
      <vt:lpstr>Georgia</vt:lpstr>
      <vt:lpstr>Consolas</vt:lpstr>
      <vt:lpstr>Consolas</vt:lpstr>
      <vt:lpstr>Consolas</vt:lpstr>
      <vt:lpstr>Microsoft YaHei</vt:lpstr>
      <vt:lpstr>Arial Unicode MS</vt:lpstr>
      <vt:lpstr>Bodoni MT Condensed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ChurnZero - Banking Customer Churn Prediction</dc:title>
  <dc:creator>PptxGenJS</dc:creator>
  <dc:subject>PptxGenJS Presentation</dc:subject>
  <cp:lastModifiedBy>Atasi Kole</cp:lastModifiedBy>
  <cp:revision>11</cp:revision>
  <dcterms:created xsi:type="dcterms:W3CDTF">2026-05-23T06:16:00Z</dcterms:created>
  <dcterms:modified xsi:type="dcterms:W3CDTF">2026-05-24T05:55:48Z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AA49E7280BEE4F44A3E6DEB21AD9C8E7_13</vt:lpwstr>
  </property>
</Properties>
</file>