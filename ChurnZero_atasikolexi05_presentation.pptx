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56032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ChurnZero  |  Competition Round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94360"/>
            <a:ext cx="1645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Team: AtasiKolexi05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54864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Banking Customer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5943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Churn Prediction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5029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Predicting customer churn using machine learning to drive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proactive retention and minimize business cost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333756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Model: XGBoost   |   Primary Metric: PR-AUC   |   May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9144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08192" y="10058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0.9989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108192" y="15727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22860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0" y="22860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23774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108192" y="29443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36576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0" y="36576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7490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₹33,500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108192" y="43159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Cost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4892040"/>
            <a:ext cx="8503920" cy="2514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XGBoost Model  ·  Banking Churn Intelligence  ·  AtasiKolexi05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545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0772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5486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81584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challenge are we solving?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2788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005840"/>
            <a:ext cx="278892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15568"/>
            <a:ext cx="2514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Challenge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664208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" y="14798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Banks lose 20–30% revenue annually from customer churn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487168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23180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Acquiring new customers costs 5× more than retaining existing ones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" y="31562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Early detection enables targeted, cost-effective intervention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154680" y="1005840"/>
            <a:ext cx="2788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54680" y="1005840"/>
            <a:ext cx="2788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115568"/>
            <a:ext cx="2514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Churn Prediction Matters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16642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57016" y="149504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Each missed churner (FN) costs the bank ₹40,000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91840" y="2487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57016" y="23180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Wrongly flagging loyal customers (FP) costs ₹500 per case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91840" y="33101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57016" y="31562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data-driven model prioritizes outreach &amp; minimizes spend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080760" y="1005840"/>
            <a:ext cx="2788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1005840"/>
            <a:ext cx="27889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1115568"/>
            <a:ext cx="2514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Expected Business Impact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664208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83096" y="147980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Proactive identification of high-risk customers before they exit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0" y="2487168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83096" y="230276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Significant reduction in total churn-related financial loss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17920" y="3310128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3110484"/>
            <a:ext cx="2286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Actionable insights into top churn drivers for strategy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9580" y="9448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Objective &amp; Approach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7680" y="48158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Solution strategy at a glance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🎯  Goal: Predict binary customer churn (0/1) on 2,026 test customers — maximising PR-AUC and minimising total business cost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Audit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Leakage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Removal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53619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9164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EDA &amp;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95351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0896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0896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SMOTE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Imbalance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1691640"/>
            <a:ext cx="126187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B2D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(XGBoost)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8815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0547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Predictions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Insights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2971800"/>
            <a:ext cx="3840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PRINCIPLES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329184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No Data Leakage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" y="361188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Cost-Sensitive Threshold Tuning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1480" y="393192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Reproducible Pipeline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425196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Business-First Framing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46320" y="288036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288036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297180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 FORMULA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329184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 (primary)  ·  F1-Score (secondary)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83480" y="3657600"/>
            <a:ext cx="3657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0" y="3657600"/>
            <a:ext cx="3566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Cost = FP × ₹500 + FN × ₹40,000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983480" y="425196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 tuned to minimise total business cost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49580" y="48158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ChurnZero — 97 features across 8 behavioral categories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196596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8,101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50592" y="960120"/>
            <a:ext cx="1965960" cy="8686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2,026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50592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Rows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26864" y="960120"/>
            <a:ext cx="196596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626864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Features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03136" y="960120"/>
            <a:ext cx="196596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03136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~20%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03136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 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1965960"/>
            <a:ext cx="8595360" cy="329184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965960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1965960"/>
            <a:ext cx="8229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1965960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Example Features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295144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95144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Profile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05072" y="2368296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05072" y="2368296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63440" y="2295144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age, gender, annual_income, city_tier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624328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24328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Relationship &amp; Tenure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005072" y="2697480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05072" y="2697480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63440" y="2624328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tenure_months, customer_lifetime_value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2953512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953512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Account &amp; Transaction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005072" y="3026664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05072" y="3026664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663440" y="2953512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avg_monthly_balance, balance_decline_%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3282696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82696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Product Holding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005072" y="3355848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05072" y="3355848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663440" y="3282696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credit_card_flag, home_loan_flag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3611880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 Card &amp; Loan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005072" y="3685032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05072" y="3685032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663440" y="3611880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credit_utilization_ratio, loan_default_risk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74320" y="3941064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941064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Banking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005072" y="4014216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05072" y="4014216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663440" y="3941064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mobile_app_logins, digital_txn_ratio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74320" y="4270248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270248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Service &amp; Complaints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005072" y="4343400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05072" y="4343400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663440" y="4270248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total_complaints, satisfaction_score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599432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599432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Marketing &amp; Retention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005072" y="4672584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05072" y="4672584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663440" y="4599432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campaign_received, retention_offer_accepted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1960" y="86868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Exploratory Data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920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patterns &amp; customer behavior insights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6400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5824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 Imbalance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0512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~20% churn rate — heavily imbalanced dataset. PR-AUC used as primary metric (robust to imbalance vs accuracy).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64008" cy="1737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15824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Transaction Activity (Imp: 0.212)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40512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monthly_transaction_count and total_digital_logins (0.202) are the top two predictors. Low activity strongly signals churn intent.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26080"/>
            <a:ext cx="64008" cy="173736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7848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Tenure &amp; Products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32536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with shorter tenure (&lt;12 months) and single-product holding show significantly higher churn rates.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26080"/>
            <a:ext cx="64008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07848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 Interaction &amp; Referrals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32536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relationship_manager_interaction_count (0.075) and referral_count (0.057) round out top 5. Low engagement flags low loyalty.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924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 Preprocessing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7396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Leakage-free, reproducible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06984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06984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Leakage Audit &amp; Column Removal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Dropped columns with correlation &gt;0.7 to churn target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86537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Removed post-event keyword columns: satisfaction, nps, resolution, escalation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24942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Explicitly excluded: unresolved_complaint_count, campaign_response_count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06984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106984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Missing Value Imputation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8132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Numeric columns → filled with training-set median (no test leakage)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92040" y="186537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Categorical columns → filled with training-set mode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224942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Imputation computed on train only, then applied to both train &amp; test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92608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299008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672" y="299008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Encoding &amp; Scaling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40156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One-hot encoding for all categorical features (drop_first=True)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378561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Column alignment: test set synced to training feature set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" y="416966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StandardScaler fit on train only, transformed on both sets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292608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99008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285232" y="299008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Train-Validation Split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340156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80/20 stratified split (stratify=y) to preserve churn ratio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92040" y="378561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seed 42 for full reproducibility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92040" y="416966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model retrained on full training set after threshold selection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924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Development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7396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Algorithm selection, SMOTE, and training strategy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3931920" cy="5486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97280"/>
            <a:ext cx="1828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BASELINE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353312"/>
            <a:ext cx="3657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41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Logistic Regression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class_weight='balanced' — no SMOTE applied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5740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Quick, interpretable benchmark model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37744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Establishes minimum PR-AUC floor for comparison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1005840"/>
            <a:ext cx="429768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097280"/>
            <a:ext cx="1828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MODEL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XGBoost Classifier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n_estimators=200, max_depth=6, learning_rate=0.05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205740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scale_pos_weight from resampled class ratio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237744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</a:t>
            </a: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Handles non-linearity and feature interactions natively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8595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71800"/>
            <a:ext cx="8595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SMOTE — Handling Class Imbalance (~20% churn rate)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456432"/>
            <a:ext cx="4114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Synthetic Minority Oversampling creates new churn examples to balance training data — prevents model bias toward majority class.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0" y="3429000"/>
            <a:ext cx="393192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429000"/>
            <a:ext cx="3749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Applied ONLY to training data — validation and test sets remain untouched for honest, realistic evaluation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XGBoost: robust to feature scale  ·  built-in L1/L2 regularization  ·  superior performance on tabular imbalanced data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Evaluation Metrics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5872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PR-AUC matters for imbalanced churn data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1148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PR-AUC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108960" y="117043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0" y="117043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Primary Metric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1480" y="160020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Precision-Recall AUC. Robust to class imbalance. Rewards models that find true churners without excessive false alarms.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05840"/>
            <a:ext cx="4114800" cy="54864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11556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2D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F1-Score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589520" y="117043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17043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Secondary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92040" y="160020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Harmonic mean of Precision &amp; Recall on the positive class. Balances both aspects of churn detection quality.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26080"/>
            <a:ext cx="41148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3580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Recall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108960" y="309067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309067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Priority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11480" y="352044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% of actual churners correctly flagged. Critical: a missed churner (FN) costs ₹40,000 — recall is maximised within cost budget.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926080"/>
            <a:ext cx="41148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03580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Precision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7589520" y="309067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9520" y="309067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Cost Control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92040" y="352044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% of flagged customers who actually churn. Controls over-spending retention budget on loyal customers.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617720"/>
            <a:ext cx="832104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Cost Formula:   Total Cost  =  (FP × ₹500)  +  (FN × ₹40,000)   →   Threshold optimised to MINIMISE this value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002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 &amp;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70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performance on validation set — actual notebook output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0.9989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near-perfect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50592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366F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0.886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50592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F1-Score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50592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 optimal threshold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26864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22C55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26864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26864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Recall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26864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churners detected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03136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79.6%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03136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false alarm rate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2487168"/>
            <a:ext cx="4572000" cy="237744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511552"/>
            <a:ext cx="4297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Confusion Matrix  (Optimal Threshold = 0.01)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178308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92608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 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423160" y="2926080"/>
            <a:ext cx="178308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23160" y="292608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₹500/case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178308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8862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₹40,000/case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423160" y="3886200"/>
            <a:ext cx="1783080" cy="7772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23160" y="3886200"/>
            <a:ext cx="17830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TP 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2770632"/>
            <a:ext cx="178308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Pred: No Churn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23160" y="2755392"/>
            <a:ext cx="178308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Pred: Churn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029200" y="2487168"/>
            <a:ext cx="3840480" cy="237744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66360" y="2578608"/>
            <a:ext cx="3566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💰  Business Cost at Optimal Threshold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66360" y="2926080"/>
            <a:ext cx="356616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₹33,500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5166360" y="3639312"/>
            <a:ext cx="3566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FN = 0 (₹0)  +  FP = 67 (₹33,500)  =  Total ₹33,500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166360" y="4023360"/>
            <a:ext cx="3566160" cy="594360"/>
          </a:xfrm>
          <a:prstGeom prst="rect">
            <a:avLst/>
          </a:prstGeom>
          <a:solidFill>
            <a:srgbClr val="0A152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12080" y="4023360"/>
            <a:ext cx="34747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 0.01 → 100% Recall — catches every churner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⚠️  Near-perfect PR-AUC (0.9989) and 100% Recall suggest the dataset is synthetic or strongly separable. Model performance is valid given the data provided.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Business Insights &amp;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7396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churn drivers from XGBoost feature importances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12471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12471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1207008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207008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54480" y="1069848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Monthly Transaction Count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554480" y="1353312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Declining transaction frequency is the strongest churn signal; trigger outreach at &gt;30% MoM drop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097280"/>
            <a:ext cx="457200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0" y="1097280"/>
            <a:ext cx="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801368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1920240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92024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8680" y="2002536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002536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554480" y="1865376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Digital Logins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554480" y="2148840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digital banking activity indicates reduced loyalty; re-engage via personalised app campaigns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97680" y="1892808"/>
            <a:ext cx="436880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66480" y="1892808"/>
            <a:ext cx="2032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2596896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" y="2715768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71576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8680" y="2798064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2798064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0.075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554480" y="2660904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 Interaction Count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554480" y="2944368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relationship manager contact flags disengagement; proactive RM check-ins improve retention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97680" y="2688336"/>
            <a:ext cx="17780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75680" y="2688336"/>
            <a:ext cx="27940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3392424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3511296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" y="351129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8680" y="3593592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" y="3593592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0.066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554480" y="3456432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Balance Decline %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554480" y="3739896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Falling balances signal imminent exit; immediate outreach recommended at &gt;15% monthly decline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483864"/>
            <a:ext cx="15748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72480" y="3483864"/>
            <a:ext cx="29972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" y="4187952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47472" y="4306824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430682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#5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68680" y="4389120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4389120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0.057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554480" y="42519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Referral Count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1554480" y="4535424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who refer others are deeply loyal; low referral count = low brand attachment and churn risk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97680" y="4279392"/>
            <a:ext cx="13716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0" y="4279392"/>
            <a:ext cx="32004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importances from final XGBoost model — no leakage, fit only on training data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7315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51332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Delivering real business value through data-driven churn intelligence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34416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🏆  Model Achievement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74650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XGBoost with SMOTE achieved PR-AUC of 0.9989 and F1 of 0.886 — significantly outperforming the logistic regression baseline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10912" y="134416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💰  Business Value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10912" y="174650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Cost-optimised threshold (0.01) achieves 100% recall, catching every churner with total validation cost of just ₹33,500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88036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22C55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99008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🔒  Data Integrity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339242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 data leakage enforced throughout — all preprocessing fit exclusively on training data for honest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846320" y="288036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10912" y="299008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🎯  Actionable Output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0912" y="339242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5 churn drivers: transaction count (0.212), digital logins (0.202), RM interaction (0.075), balance decline (0.066), referrals (0.057)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2,026 test predictions delivered   |   Code fully reproducible   |   GitHub repository available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Submission Deliverables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920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Everything needed to evaluate and reproduce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005840"/>
            <a:ext cx="278892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Predictions CSV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ChurnZero_AtasiKole_Predictions.csv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8912" y="245059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3957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2,026 rows matching test customer_ids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" y="295351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28986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churn_prediction: binary (0/1)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45643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340156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churn_probability: float 0–1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" y="395935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" y="390448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 null values in output columns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1005840"/>
            <a:ext cx="278892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📁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310128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91840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366F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github.com/atasikolexi05/ChurnZero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83280" y="245059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93592" y="23957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README with reproduction guide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95351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93592" y="28986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requirements.txt included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345643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340156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Notebook runs end-to-end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395935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93592" y="390448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folder structure documented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44768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44768" y="1005840"/>
            <a:ext cx="27889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44768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📓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6254496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Reproducible Notebook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36208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6208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ChurnZero_AtasiKole_Code.ipynb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327648" y="245059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23957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Runs top-to-bottom sequentially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27648" y="295351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28986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hidden state or out-of-order cells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34564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37960" y="340156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Comments explain every step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27648" y="395935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37960" y="390448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seed 42 — deterministic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6708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Appendix — Technical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72440" y="49555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Supplementary details for Q&amp;A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274320" y="1005840"/>
          <a:ext cx="8595360" cy="2432304"/>
        </p:xfrm>
        <a:graphic>
          <a:graphicData uri="http://schemas.openxmlformats.org/drawingml/2006/table">
            <a:tbl>
              <a:tblPr/>
              <a:tblGrid>
                <a:gridCol w="2011680"/>
                <a:gridCol w="3840480"/>
                <a:gridCol w="2743200"/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Result (Validation)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PR-AUC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Area under Precision-Recall curve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0.9989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F1-Score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 × (P × R) / (P + R)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0.886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TP / (TP + FN)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100% (FN = 0)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Precision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TP / (TP + FP)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79.6%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Threshold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Cost-minimised sweep 0.01–0.99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Business Cost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FP×500 + FN×40000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₹33,500 (67 FP, 0 FN)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566160"/>
            <a:ext cx="4572000" cy="13982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3566160"/>
            <a:ext cx="45720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3860" y="3565017"/>
            <a:ext cx="42976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Dropped Columns (Leakage Risk)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3959352"/>
            <a:ext cx="4297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Keyword-based: satisfaction_score, nps_score, complaint_resolution_time, escalation_count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Explicit: mobile_banking_active_flag, unresolved_complaint_count, campaign_response_count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Correlation-based: |corr| &gt; 0.70 to target investigated and removed if post-event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0" y="3566160"/>
            <a:ext cx="3840480" cy="140652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0" y="3566160"/>
            <a:ext cx="38404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66360" y="3581527"/>
            <a:ext cx="35661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Reproducibility Checklist</a:t>
            </a:r>
            <a:endParaRPr lang="en-US" sz="1200" dirty="0"/>
          </a:p>
        </p:txBody>
      </p:sp>
      <p:sp>
        <p:nvSpPr>
          <p:cNvPr id="6" name="Text 11"/>
          <p:cNvSpPr/>
          <p:nvPr/>
        </p:nvSpPr>
        <p:spPr>
          <a:xfrm>
            <a:off x="5166360" y="3959352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np.random.seed(42)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166360" y="4178808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train_test_split(stratify=y, random_state=42)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166360" y="4398264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SMOTE(random_state=42)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166360" y="4617720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XGBClassifier(random_state=42)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8769</Words>
  <Application>WPS Presentation</Application>
  <PresentationFormat>On-screen Show (16:9)</PresentationFormat>
  <Paragraphs>558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ChurnZero - Banking Customer Churn Prediction</dc:title>
  <dc:creator>PptxGenJS</dc:creator>
  <dc:subject>PptxGenJS Presentation</dc:subject>
  <cp:lastModifiedBy>Atasi Kole</cp:lastModifiedBy>
  <cp:revision>2</cp:revision>
  <dcterms:created xsi:type="dcterms:W3CDTF">2026-05-23T06:16:00Z</dcterms:created>
  <dcterms:modified xsi:type="dcterms:W3CDTF">2026-05-23T06:28:59Z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F0F61B3F38BE44758DF3B99728A522DF_12</vt:lpwstr>
  </property>
</Properties>
</file>